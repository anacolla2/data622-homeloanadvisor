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1097280"/>
            <a:ext cx="822960" cy="822960"/>
          </a:xfrm>
          <a:prstGeom prst="rect">
            <a:avLst/>
          </a:prstGeom>
        </p:spPr>
      </p:pic>
      <p:sp>
        <p:nvSpPr>
          <p:cNvPr id="3" name="Text 0"/>
          <p:cNvSpPr/>
          <p:nvPr/>
        </p:nvSpPr>
        <p:spPr>
          <a:xfrm>
            <a:off x="731520" y="201168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Home Loan Advisor</a:t>
            </a:r>
            <a:endParaRPr lang="en-US" sz="4400" dirty="0"/>
          </a:p>
        </p:txBody>
      </p:sp>
      <p:sp>
        <p:nvSpPr>
          <p:cNvPr id="4" name="Text 1"/>
          <p:cNvSpPr/>
          <p:nvPr/>
        </p:nvSpPr>
        <p:spPr>
          <a:xfrm>
            <a:off x="731520" y="2834640"/>
            <a:ext cx="7772400" cy="548640"/>
          </a:xfrm>
          <a:prstGeom prst="rect">
            <a:avLst/>
          </a:prstGeom>
          <a:noFill/>
          <a:ln/>
        </p:spPr>
        <p:txBody>
          <a:bodyPr wrap="square" lIns="0" tIns="0" rIns="0" bIns="0" rtlCol="0" anchor="ctr"/>
          <a:lstStyle/>
          <a:p>
            <a:pPr indent="0" marL="0">
              <a:buNone/>
            </a:pPr>
            <a:r>
              <a:rPr lang="en-US" sz="2000" dirty="0">
                <a:solidFill>
                  <a:srgbClr val="38BDF8"/>
                </a:solidFill>
                <a:latin typeface="Calibri" pitchFamily="34" charset="0"/>
                <a:ea typeface="Calibri" pitchFamily="34" charset="-122"/>
                <a:cs typeface="Calibri" pitchFamily="34" charset="-120"/>
              </a:rPr>
              <a:t>A Consumer-Facing Mortgage Risk Intelligence MVP</a:t>
            </a:r>
            <a:endParaRPr lang="en-US" sz="2000" dirty="0"/>
          </a:p>
        </p:txBody>
      </p:sp>
      <p:sp>
        <p:nvSpPr>
          <p:cNvPr id="5" name="Shape 2"/>
          <p:cNvSpPr/>
          <p:nvPr/>
        </p:nvSpPr>
        <p:spPr>
          <a:xfrm>
            <a:off x="731520" y="3520440"/>
            <a:ext cx="1828800" cy="36576"/>
          </a:xfrm>
          <a:prstGeom prst="rect">
            <a:avLst/>
          </a:prstGeom>
          <a:solidFill>
            <a:srgbClr val="38BDF8"/>
          </a:solidFill>
          <a:ln/>
        </p:spPr>
      </p:sp>
      <p:sp>
        <p:nvSpPr>
          <p:cNvPr id="6" name="Text 3"/>
          <p:cNvSpPr/>
          <p:nvPr/>
        </p:nvSpPr>
        <p:spPr>
          <a:xfrm>
            <a:off x="731520" y="374904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DATA 622  |  Machine Learning in Production  |  Spring 2026</a:t>
            </a:r>
            <a:endParaRPr lang="en-US" sz="1400" dirty="0"/>
          </a:p>
        </p:txBody>
      </p:sp>
      <p:sp>
        <p:nvSpPr>
          <p:cNvPr id="7" name="Text 4"/>
          <p:cNvSpPr/>
          <p:nvPr/>
        </p:nvSpPr>
        <p:spPr>
          <a:xfrm>
            <a:off x="731520" y="4160520"/>
            <a:ext cx="7772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Jayden Jiang  •  Ana Collado  •  Ariba Razzaq  •  Sabina Baraili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Problem</a:t>
            </a:r>
            <a:endParaRPr lang="en-US" sz="3600" dirty="0"/>
          </a:p>
        </p:txBody>
      </p:sp>
      <p:sp>
        <p:nvSpPr>
          <p:cNvPr id="4" name="Shape 2"/>
          <p:cNvSpPr/>
          <p:nvPr/>
        </p:nvSpPr>
        <p:spPr>
          <a:xfrm>
            <a:off x="457200" y="1188720"/>
            <a:ext cx="384048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1280160"/>
            <a:ext cx="3474720" cy="731520"/>
          </a:xfrm>
          <a:prstGeom prst="rect">
            <a:avLst/>
          </a:prstGeom>
          <a:noFill/>
          <a:ln/>
        </p:spPr>
        <p:txBody>
          <a:bodyPr wrap="square" lIns="0" tIns="0" rIns="0" bIns="0" rtlCol="0" anchor="ctr"/>
          <a:lstStyle/>
          <a:p>
            <a:pPr indent="0" marL="0">
              <a:buNone/>
            </a:pPr>
            <a:r>
              <a:rPr lang="en-US" sz="4200" b="1" dirty="0">
                <a:solidFill>
                  <a:srgbClr val="1E3A5F"/>
                </a:solidFill>
                <a:latin typeface="Georgia" pitchFamily="34" charset="0"/>
                <a:ea typeface="Georgia" pitchFamily="34" charset="-122"/>
                <a:cs typeface="Georgia" pitchFamily="34" charset="-120"/>
              </a:rPr>
              <a:t>$300K+</a:t>
            </a:r>
            <a:endParaRPr lang="en-US" sz="4200" dirty="0"/>
          </a:p>
        </p:txBody>
      </p:sp>
      <p:sp>
        <p:nvSpPr>
          <p:cNvPr id="6" name="Text 4"/>
          <p:cNvSpPr/>
          <p:nvPr/>
        </p:nvSpPr>
        <p:spPr>
          <a:xfrm>
            <a:off x="640080" y="1965960"/>
            <a:ext cx="34747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Average U.S. mortgage — the largest financial</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decision most people will ever make</a:t>
            </a:r>
            <a:endParaRPr lang="en-US" sz="1200" dirty="0"/>
          </a:p>
        </p:txBody>
      </p:sp>
      <p:sp>
        <p:nvSpPr>
          <p:cNvPr id="7" name="Shape 5"/>
          <p:cNvSpPr/>
          <p:nvPr/>
        </p:nvSpPr>
        <p:spPr>
          <a:xfrm>
            <a:off x="4846320" y="1188720"/>
            <a:ext cx="384048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5029200" y="1280160"/>
            <a:ext cx="3474720" cy="731520"/>
          </a:xfrm>
          <a:prstGeom prst="rect">
            <a:avLst/>
          </a:prstGeom>
          <a:noFill/>
          <a:ln/>
        </p:spPr>
        <p:txBody>
          <a:bodyPr wrap="square" lIns="0" tIns="0" rIns="0" bIns="0" rtlCol="0" anchor="ctr"/>
          <a:lstStyle/>
          <a:p>
            <a:pPr indent="0" marL="0">
              <a:buNone/>
            </a:pPr>
            <a:r>
              <a:rPr lang="en-US" sz="4200" b="1" dirty="0">
                <a:solidFill>
                  <a:srgbClr val="DC2626"/>
                </a:solidFill>
                <a:latin typeface="Georgia" pitchFamily="34" charset="0"/>
                <a:ea typeface="Georgia" pitchFamily="34" charset="-122"/>
                <a:cs typeface="Georgia" pitchFamily="34" charset="-120"/>
              </a:rPr>
              <a:t>0 tools</a:t>
            </a:r>
            <a:endParaRPr lang="en-US" sz="4200" dirty="0"/>
          </a:p>
        </p:txBody>
      </p:sp>
      <p:sp>
        <p:nvSpPr>
          <p:cNvPr id="9" name="Text 7"/>
          <p:cNvSpPr/>
          <p:nvPr/>
        </p:nvSpPr>
        <p:spPr>
          <a:xfrm>
            <a:off x="5029200" y="1965960"/>
            <a:ext cx="34747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Consumer-facing tools to assess personal</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mortgage default risk before committing</a:t>
            </a:r>
            <a:endParaRPr lang="en-US" sz="1200" dirty="0"/>
          </a:p>
        </p:txBody>
      </p:sp>
      <p:sp>
        <p:nvSpPr>
          <p:cNvPr id="10" name="Shape 8"/>
          <p:cNvSpPr/>
          <p:nvPr/>
        </p:nvSpPr>
        <p:spPr>
          <a:xfrm>
            <a:off x="457200" y="3017520"/>
            <a:ext cx="822960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457200" y="3017520"/>
            <a:ext cx="73152" cy="1645920"/>
          </a:xfrm>
          <a:prstGeom prst="rect">
            <a:avLst/>
          </a:prstGeom>
          <a:solidFill>
            <a:srgbClr val="38BDF8"/>
          </a:solidFill>
          <a:ln/>
        </p:spPr>
      </p:sp>
      <p:sp>
        <p:nvSpPr>
          <p:cNvPr id="12" name="Text 10"/>
          <p:cNvSpPr/>
          <p:nvPr/>
        </p:nvSpPr>
        <p:spPr>
          <a:xfrm>
            <a:off x="777240" y="3108960"/>
            <a:ext cx="7772400" cy="365760"/>
          </a:xfrm>
          <a:prstGeom prst="rect">
            <a:avLst/>
          </a:prstGeom>
          <a:noFill/>
          <a:ln/>
        </p:spPr>
        <p:txBody>
          <a:bodyPr wrap="square" lIns="0" tIns="0" rIns="0" bIns="0" rtlCol="0" anchor="ctr"/>
          <a:lstStyle/>
          <a:p>
            <a:pPr indent="0" marL="0">
              <a:buNone/>
            </a:pPr>
            <a:r>
              <a:rPr lang="en-US" sz="2000" b="1" dirty="0">
                <a:solidFill>
                  <a:srgbClr val="1E3A5F"/>
                </a:solidFill>
                <a:latin typeface="Georgia" pitchFamily="34" charset="0"/>
                <a:ea typeface="Georgia" pitchFamily="34" charset="-122"/>
                <a:cs typeface="Georgia" pitchFamily="34" charset="-120"/>
              </a:rPr>
              <a:t>The Gap</a:t>
            </a:r>
            <a:endParaRPr lang="en-US" sz="2000" dirty="0"/>
          </a:p>
        </p:txBody>
      </p:sp>
      <p:sp>
        <p:nvSpPr>
          <p:cNvPr id="13" name="Text 11"/>
          <p:cNvSpPr/>
          <p:nvPr/>
        </p:nvSpPr>
        <p:spPr>
          <a:xfrm>
            <a:off x="777240" y="3520440"/>
            <a:ext cx="7680960" cy="100584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Banks have sophisticated ML models to evaluate borrowers — but consumers have nothing equivalent.</a:t>
            </a:r>
            <a:endParaRPr lang="en-US" sz="1400" dirty="0"/>
          </a:p>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Home Loan Advisor flips the perspective: it empowers the borrower to make data-driven decisions </a:t>
            </a:r>
            <a:endParaRPr lang="en-US" sz="1400" dirty="0"/>
          </a:p>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before committing to a mortgage, using a model trained on real Freddie Mac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Who Is This For?</a:t>
            </a:r>
            <a:endParaRPr lang="en-US" sz="3600" dirty="0"/>
          </a:p>
        </p:txBody>
      </p:sp>
      <p:sp>
        <p:nvSpPr>
          <p:cNvPr id="4" name="Shape 2"/>
          <p:cNvSpPr/>
          <p:nvPr/>
        </p:nvSpPr>
        <p:spPr>
          <a:xfrm>
            <a:off x="457200" y="123444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31520" y="1463040"/>
            <a:ext cx="502920" cy="502920"/>
          </a:xfrm>
          <a:prstGeom prst="rect">
            <a:avLst/>
          </a:prstGeom>
        </p:spPr>
      </p:pic>
      <p:sp>
        <p:nvSpPr>
          <p:cNvPr id="6" name="Text 3"/>
          <p:cNvSpPr/>
          <p:nvPr/>
        </p:nvSpPr>
        <p:spPr>
          <a:xfrm>
            <a:off x="1463040" y="1325880"/>
            <a:ext cx="6949440" cy="365760"/>
          </a:xfrm>
          <a:prstGeom prst="rect">
            <a:avLst/>
          </a:prstGeom>
          <a:noFill/>
          <a:ln/>
        </p:spPr>
        <p:txBody>
          <a:bodyPr wrap="square" lIns="0" tIns="0" rIns="0" bIns="0" rtlCol="0" anchor="ctr"/>
          <a:lstStyle/>
          <a:p>
            <a:pPr indent="0" marL="0">
              <a:buNone/>
            </a:pPr>
            <a:r>
              <a:rPr lang="en-US" sz="1800" b="1" dirty="0">
                <a:solidFill>
                  <a:srgbClr val="1E3A5F"/>
                </a:solidFill>
                <a:latin typeface="Georgia" pitchFamily="34" charset="0"/>
                <a:ea typeface="Georgia" pitchFamily="34" charset="-122"/>
                <a:cs typeface="Georgia" pitchFamily="34" charset="-120"/>
              </a:rPr>
              <a:t>First-Time Homebuyers</a:t>
            </a:r>
            <a:endParaRPr lang="en-US" sz="1800" dirty="0"/>
          </a:p>
        </p:txBody>
      </p:sp>
      <p:sp>
        <p:nvSpPr>
          <p:cNvPr id="7" name="Text 4"/>
          <p:cNvSpPr/>
          <p:nvPr/>
        </p:nvSpPr>
        <p:spPr>
          <a:xfrm>
            <a:off x="1463040" y="1737360"/>
            <a:ext cx="69494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Unfamiliar with how mortgage risk is assessed — want guidance before approaching a lender.</a:t>
            </a:r>
            <a:endParaRPr lang="en-US" sz="1300" dirty="0"/>
          </a:p>
        </p:txBody>
      </p:sp>
      <p:sp>
        <p:nvSpPr>
          <p:cNvPr id="8" name="Shape 5"/>
          <p:cNvSpPr/>
          <p:nvPr/>
        </p:nvSpPr>
        <p:spPr>
          <a:xfrm>
            <a:off x="457200" y="246888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731520" y="2697480"/>
            <a:ext cx="502920" cy="502920"/>
          </a:xfrm>
          <a:prstGeom prst="rect">
            <a:avLst/>
          </a:prstGeom>
        </p:spPr>
      </p:pic>
      <p:sp>
        <p:nvSpPr>
          <p:cNvPr id="10" name="Text 6"/>
          <p:cNvSpPr/>
          <p:nvPr/>
        </p:nvSpPr>
        <p:spPr>
          <a:xfrm>
            <a:off x="1463040" y="2560320"/>
            <a:ext cx="6949440" cy="365760"/>
          </a:xfrm>
          <a:prstGeom prst="rect">
            <a:avLst/>
          </a:prstGeom>
          <a:noFill/>
          <a:ln/>
        </p:spPr>
        <p:txBody>
          <a:bodyPr wrap="square" lIns="0" tIns="0" rIns="0" bIns="0" rtlCol="0" anchor="ctr"/>
          <a:lstStyle/>
          <a:p>
            <a:pPr indent="0" marL="0">
              <a:buNone/>
            </a:pPr>
            <a:r>
              <a:rPr lang="en-US" sz="1800" b="1" dirty="0">
                <a:solidFill>
                  <a:srgbClr val="1E3A5F"/>
                </a:solidFill>
                <a:latin typeface="Georgia" pitchFamily="34" charset="0"/>
                <a:ea typeface="Georgia" pitchFamily="34" charset="-122"/>
                <a:cs typeface="Georgia" pitchFamily="34" charset="-120"/>
              </a:rPr>
              <a:t>Refinancing Homeowners</a:t>
            </a:r>
            <a:endParaRPr lang="en-US" sz="1800" dirty="0"/>
          </a:p>
        </p:txBody>
      </p:sp>
      <p:sp>
        <p:nvSpPr>
          <p:cNvPr id="11" name="Text 7"/>
          <p:cNvSpPr/>
          <p:nvPr/>
        </p:nvSpPr>
        <p:spPr>
          <a:xfrm>
            <a:off x="1463040" y="2971800"/>
            <a:ext cx="69494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Want to understand how their current profile compares to historical default patterns.</a:t>
            </a:r>
            <a:endParaRPr lang="en-US" sz="1300" dirty="0"/>
          </a:p>
        </p:txBody>
      </p:sp>
      <p:sp>
        <p:nvSpPr>
          <p:cNvPr id="12" name="Shape 8"/>
          <p:cNvSpPr/>
          <p:nvPr/>
        </p:nvSpPr>
        <p:spPr>
          <a:xfrm>
            <a:off x="457200" y="370332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731520" y="3931920"/>
            <a:ext cx="502920" cy="502920"/>
          </a:xfrm>
          <a:prstGeom prst="rect">
            <a:avLst/>
          </a:prstGeom>
        </p:spPr>
      </p:pic>
      <p:sp>
        <p:nvSpPr>
          <p:cNvPr id="14" name="Text 9"/>
          <p:cNvSpPr/>
          <p:nvPr/>
        </p:nvSpPr>
        <p:spPr>
          <a:xfrm>
            <a:off x="1463040" y="3794760"/>
            <a:ext cx="6949440" cy="365760"/>
          </a:xfrm>
          <a:prstGeom prst="rect">
            <a:avLst/>
          </a:prstGeom>
          <a:noFill/>
          <a:ln/>
        </p:spPr>
        <p:txBody>
          <a:bodyPr wrap="square" lIns="0" tIns="0" rIns="0" bIns="0" rtlCol="0" anchor="ctr"/>
          <a:lstStyle/>
          <a:p>
            <a:pPr indent="0" marL="0">
              <a:buNone/>
            </a:pPr>
            <a:r>
              <a:rPr lang="en-US" sz="1800" b="1" dirty="0">
                <a:solidFill>
                  <a:srgbClr val="1E3A5F"/>
                </a:solidFill>
                <a:latin typeface="Georgia" pitchFamily="34" charset="0"/>
                <a:ea typeface="Georgia" pitchFamily="34" charset="-122"/>
                <a:cs typeface="Georgia" pitchFamily="34" charset="-120"/>
              </a:rPr>
              <a:t>Financial Advisors</a:t>
            </a:r>
            <a:endParaRPr lang="en-US" sz="1800" dirty="0"/>
          </a:p>
        </p:txBody>
      </p:sp>
      <p:sp>
        <p:nvSpPr>
          <p:cNvPr id="15" name="Text 10"/>
          <p:cNvSpPr/>
          <p:nvPr/>
        </p:nvSpPr>
        <p:spPr>
          <a:xfrm>
            <a:off x="1463040" y="4206240"/>
            <a:ext cx="69494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Need a quick, visual tool to walk clients through mortgage readiness scenarios.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Data Source</a:t>
            </a:r>
            <a:endParaRPr lang="en-US" sz="3600" dirty="0"/>
          </a:p>
        </p:txBody>
      </p:sp>
      <p:sp>
        <p:nvSpPr>
          <p:cNvPr id="4" name="Shape 2"/>
          <p:cNvSpPr/>
          <p:nvPr/>
        </p:nvSpPr>
        <p:spPr>
          <a:xfrm>
            <a:off x="457200" y="1188720"/>
            <a:ext cx="8229600" cy="12801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31520" y="1371600"/>
            <a:ext cx="457200" cy="457200"/>
          </a:xfrm>
          <a:prstGeom prst="rect">
            <a:avLst/>
          </a:prstGeom>
        </p:spPr>
      </p:pic>
      <p:sp>
        <p:nvSpPr>
          <p:cNvPr id="6" name="Text 3"/>
          <p:cNvSpPr/>
          <p:nvPr/>
        </p:nvSpPr>
        <p:spPr>
          <a:xfrm>
            <a:off x="1371600" y="1280160"/>
            <a:ext cx="7132320" cy="365760"/>
          </a:xfrm>
          <a:prstGeom prst="rect">
            <a:avLst/>
          </a:prstGeom>
          <a:noFill/>
          <a:ln/>
        </p:spPr>
        <p:txBody>
          <a:bodyPr wrap="square" lIns="0" tIns="0" rIns="0" bIns="0" rtlCol="0" anchor="ctr"/>
          <a:lstStyle/>
          <a:p>
            <a:pPr indent="0" marL="0">
              <a:buNone/>
            </a:pPr>
            <a:r>
              <a:rPr lang="en-US" sz="2000" b="1" dirty="0">
                <a:solidFill>
                  <a:srgbClr val="1E3A5F"/>
                </a:solidFill>
                <a:latin typeface="Georgia" pitchFamily="34" charset="0"/>
                <a:ea typeface="Georgia" pitchFamily="34" charset="-122"/>
                <a:cs typeface="Georgia" pitchFamily="34" charset="-120"/>
              </a:rPr>
              <a:t>Freddie Mac Single Family Loan-Level Dataset</a:t>
            </a:r>
            <a:endParaRPr lang="en-US" sz="2000" dirty="0"/>
          </a:p>
        </p:txBody>
      </p:sp>
      <p:sp>
        <p:nvSpPr>
          <p:cNvPr id="7" name="Text 4"/>
          <p:cNvSpPr/>
          <p:nvPr/>
        </p:nvSpPr>
        <p:spPr>
          <a:xfrm>
            <a:off x="1371600" y="1691640"/>
            <a:ext cx="7132320" cy="640080"/>
          </a:xfrm>
          <a:prstGeom prst="rect">
            <a:avLst/>
          </a:prstGeom>
          <a:noFill/>
          <a:ln/>
        </p:spPr>
        <p:txBody>
          <a:bodyPr wrap="square" lIns="0" tIns="0" rIns="0" bIns="0"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Loan-level origination &amp; performance data on millions of U.S. mortgages (1999–present).</a:t>
            </a:r>
            <a:endParaRPr lang="en-US" sz="1300" dirty="0"/>
          </a:p>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MVP scope: 2018–2020 vintages  |  150,000 loan sample  |  4.31% positive class rate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743200"/>
                <a:gridCol w="3657600"/>
                <a:gridCol w="1828800"/>
              </a:tblGrid>
              <a:tr h="32004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274320">
                <a:tc>
                  <a:txBody>
                    <a:bodyPr/>
                    <a:lstStyle/>
                    <a:p>
                      <a:pPr indent="0" marL="0">
                        <a:buNone/>
                      </a:pPr>
                      <a:r>
                        <a:rPr lang="en-US" sz="1000" dirty="0">
                          <a:solidFill>
                            <a:srgbClr val="000000"/>
                          </a:solidFill>
                          <a:latin typeface="Consolas" pitchFamily="34" charset="0"/>
                          <a:ea typeface="Consolas" pitchFamily="34" charset="-122"/>
                          <a:cs typeface="Consolas" pitchFamily="34" charset="-120"/>
                        </a:rPr>
                        <a:t>borrower_credit_score</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FICO credit score at origination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000000"/>
                          </a:solidFill>
                          <a:latin typeface="Consolas" pitchFamily="34" charset="0"/>
                          <a:ea typeface="Consolas" pitchFamily="34" charset="-122"/>
                          <a:cs typeface="Consolas" pitchFamily="34" charset="-120"/>
                        </a:rPr>
                        <a:t>original_dti</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Debt-to-income ratio at origination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r>
              <a:tr h="274320">
                <a:tc>
                  <a:txBody>
                    <a:bodyPr/>
                    <a:lstStyle/>
                    <a:p>
                      <a:pPr indent="0" marL="0">
                        <a:buNone/>
                      </a:pPr>
                      <a:r>
                        <a:rPr lang="en-US" sz="1000" dirty="0">
                          <a:solidFill>
                            <a:srgbClr val="000000"/>
                          </a:solidFill>
                          <a:latin typeface="Consolas" pitchFamily="34" charset="0"/>
                          <a:ea typeface="Consolas" pitchFamily="34" charset="-122"/>
                          <a:cs typeface="Consolas" pitchFamily="34" charset="-120"/>
                        </a:rPr>
                        <a:t>original_ltv</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Loan-to-value ratio at origination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000000"/>
                          </a:solidFill>
                          <a:latin typeface="Consolas" pitchFamily="34" charset="0"/>
                          <a:ea typeface="Consolas" pitchFamily="34" charset="-122"/>
                          <a:cs typeface="Consolas" pitchFamily="34" charset="-120"/>
                        </a:rPr>
                        <a:t>original_interest_rate</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Interest rate at origination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r>
              <a:tr h="274320">
                <a:tc>
                  <a:txBody>
                    <a:bodyPr/>
                    <a:lstStyle/>
                    <a:p>
                      <a:pPr indent="0" marL="0">
                        <a:buNone/>
                      </a:pPr>
                      <a:r>
                        <a:rPr lang="en-US" sz="1000" dirty="0">
                          <a:solidFill>
                            <a:srgbClr val="000000"/>
                          </a:solidFill>
                          <a:latin typeface="Consolas" pitchFamily="34" charset="0"/>
                          <a:ea typeface="Consolas" pitchFamily="34" charset="-122"/>
                          <a:cs typeface="Consolas" pitchFamily="34" charset="-120"/>
                        </a:rPr>
                        <a:t>property_state, property_type</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State, single-family/condo/etc.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DC2626"/>
                          </a:solidFill>
                          <a:latin typeface="Consolas" pitchFamily="34" charset="0"/>
                          <a:ea typeface="Consolas" pitchFamily="34" charset="-122"/>
                          <a:cs typeface="Consolas" pitchFamily="34" charset="-120"/>
                        </a:rPr>
                        <a:t>ever_delinquent</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Target: loan became 90+ days delinquent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Binary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0F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ML Approach</a:t>
            </a:r>
            <a:endParaRPr lang="en-US" sz="3600" dirty="0"/>
          </a:p>
        </p:txBody>
      </p:sp>
      <p:sp>
        <p:nvSpPr>
          <p:cNvPr id="4" name="Text 2"/>
          <p:cNvSpPr/>
          <p:nvPr/>
        </p:nvSpPr>
        <p:spPr>
          <a:xfrm>
            <a:off x="457200" y="1051560"/>
            <a:ext cx="8229600" cy="365760"/>
          </a:xfrm>
          <a:prstGeom prst="rect">
            <a:avLst/>
          </a:prstGeom>
          <a:noFill/>
          <a:ln/>
        </p:spPr>
        <p:txBody>
          <a:bodyPr wrap="square" lIns="0" tIns="0" rIns="0" bIns="0" rtlCol="0" anchor="ctr"/>
          <a:lstStyle/>
          <a:p>
            <a:pPr indent="0" marL="0">
              <a:buNone/>
            </a:pPr>
            <a:r>
              <a:rPr lang="en-US" sz="1500" i="1" dirty="0">
                <a:solidFill>
                  <a:srgbClr val="334155"/>
                </a:solidFill>
                <a:latin typeface="Calibri" pitchFamily="34" charset="0"/>
                <a:ea typeface="Calibri" pitchFamily="34" charset="-122"/>
                <a:cs typeface="Calibri" pitchFamily="34" charset="-120"/>
              </a:rPr>
              <a:t>Binary Classification — does a borrower ever become 90+ days delinquent?</a:t>
            </a:r>
            <a:endParaRPr lang="en-US" sz="1500" dirty="0"/>
          </a:p>
        </p:txBody>
      </p:sp>
      <p:sp>
        <p:nvSpPr>
          <p:cNvPr id="5" name="Shape 3"/>
          <p:cNvSpPr/>
          <p:nvPr/>
        </p:nvSpPr>
        <p:spPr>
          <a:xfrm>
            <a:off x="457200" y="1600200"/>
            <a:ext cx="260604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640080" y="1737360"/>
            <a:ext cx="2240280" cy="457200"/>
          </a:xfrm>
          <a:prstGeom prst="rect">
            <a:avLst/>
          </a:prstGeom>
          <a:noFill/>
          <a:ln/>
        </p:spPr>
        <p:txBody>
          <a:bodyPr wrap="square" lIns="0" tIns="0" rIns="0" bIns="0" rtlCol="0" anchor="ctr"/>
          <a:lstStyle/>
          <a:p>
            <a:pPr indent="0" marL="0">
              <a:buNone/>
            </a:pPr>
            <a:r>
              <a:rPr lang="en-US" sz="1700" b="1" dirty="0">
                <a:solidFill>
                  <a:srgbClr val="1E3A5F"/>
                </a:solidFill>
                <a:latin typeface="Georgia" pitchFamily="34" charset="0"/>
                <a:ea typeface="Georgia" pitchFamily="34" charset="-122"/>
                <a:cs typeface="Georgia" pitchFamily="34" charset="-120"/>
              </a:rPr>
              <a:t>Logistic Regression</a:t>
            </a:r>
            <a:endParaRPr lang="en-US" sz="1700" dirty="0"/>
          </a:p>
        </p:txBody>
      </p:sp>
      <p:sp>
        <p:nvSpPr>
          <p:cNvPr id="7" name="Text 5"/>
          <p:cNvSpPr/>
          <p:nvPr/>
        </p:nvSpPr>
        <p:spPr>
          <a:xfrm>
            <a:off x="640080" y="2286000"/>
            <a:ext cx="2240280" cy="1097280"/>
          </a:xfrm>
          <a:prstGeom prst="rect">
            <a:avLst/>
          </a:prstGeom>
          <a:noFill/>
          <a:ln/>
        </p:spPr>
        <p:txBody>
          <a:bodyPr wrap="square" lIns="0" tIns="0" rIns="0" bIns="0" rtlCol="0" anchor="ctr"/>
          <a:lstStyle/>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Interpretable baseline.</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Coefficients show which features</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increase/decrease default risk.</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Trained on 150K loans.</a:t>
            </a:r>
            <a:endParaRPr lang="en-US" sz="1200" dirty="0"/>
          </a:p>
        </p:txBody>
      </p:sp>
      <p:sp>
        <p:nvSpPr>
          <p:cNvPr id="8" name="Shape 6"/>
          <p:cNvSpPr/>
          <p:nvPr/>
        </p:nvSpPr>
        <p:spPr>
          <a:xfrm>
            <a:off x="640080" y="3566160"/>
            <a:ext cx="1188720" cy="320040"/>
          </a:xfrm>
          <a:prstGeom prst="rect">
            <a:avLst/>
          </a:prstGeom>
          <a:solidFill>
            <a:srgbClr val="F0FDF4"/>
          </a:solidFill>
          <a:ln/>
        </p:spPr>
      </p:sp>
      <p:sp>
        <p:nvSpPr>
          <p:cNvPr id="9" name="Text 7"/>
          <p:cNvSpPr/>
          <p:nvPr/>
        </p:nvSpPr>
        <p:spPr>
          <a:xfrm>
            <a:off x="640080" y="3566160"/>
            <a:ext cx="1188720" cy="320040"/>
          </a:xfrm>
          <a:prstGeom prst="rect">
            <a:avLst/>
          </a:prstGeom>
          <a:noFill/>
          <a:ln/>
        </p:spPr>
        <p:txBody>
          <a:bodyPr wrap="square" lIns="0" tIns="0" rIns="0" bIns="0" rtlCol="0" anchor="ctr"/>
          <a:lstStyle/>
          <a:p>
            <a:pPr algn="ctr" indent="0" marL="0">
              <a:buNone/>
            </a:pPr>
            <a:r>
              <a:rPr lang="en-US" sz="1000" b="1" dirty="0">
                <a:solidFill>
                  <a:srgbClr val="16A34A"/>
                </a:solidFill>
                <a:latin typeface="Calibri" pitchFamily="34" charset="0"/>
                <a:ea typeface="Calibri" pitchFamily="34" charset="-122"/>
                <a:cs typeface="Calibri" pitchFamily="34" charset="-120"/>
              </a:rPr>
              <a:t>MVP Model</a:t>
            </a:r>
            <a:endParaRPr lang="en-US" sz="1000" dirty="0"/>
          </a:p>
        </p:txBody>
      </p:sp>
      <p:sp>
        <p:nvSpPr>
          <p:cNvPr id="10" name="Shape 8"/>
          <p:cNvSpPr/>
          <p:nvPr/>
        </p:nvSpPr>
        <p:spPr>
          <a:xfrm>
            <a:off x="3291840" y="1600200"/>
            <a:ext cx="260604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3474720" y="1737360"/>
            <a:ext cx="2240280" cy="457200"/>
          </a:xfrm>
          <a:prstGeom prst="rect">
            <a:avLst/>
          </a:prstGeom>
          <a:noFill/>
          <a:ln/>
        </p:spPr>
        <p:txBody>
          <a:bodyPr wrap="square" lIns="0" tIns="0" rIns="0" bIns="0" rtlCol="0" anchor="ctr"/>
          <a:lstStyle/>
          <a:p>
            <a:pPr indent="0" marL="0">
              <a:buNone/>
            </a:pPr>
            <a:r>
              <a:rPr lang="en-US" sz="1700" b="1" dirty="0">
                <a:solidFill>
                  <a:srgbClr val="1E3A5F"/>
                </a:solidFill>
                <a:latin typeface="Georgia" pitchFamily="34" charset="0"/>
                <a:ea typeface="Georgia" pitchFamily="34" charset="-122"/>
                <a:cs typeface="Georgia" pitchFamily="34" charset="-120"/>
              </a:rPr>
              <a:t>Random Forest</a:t>
            </a:r>
            <a:endParaRPr lang="en-US" sz="1700" dirty="0"/>
          </a:p>
        </p:txBody>
      </p:sp>
      <p:sp>
        <p:nvSpPr>
          <p:cNvPr id="12" name="Text 10"/>
          <p:cNvSpPr/>
          <p:nvPr/>
        </p:nvSpPr>
        <p:spPr>
          <a:xfrm>
            <a:off x="3474720" y="2286000"/>
            <a:ext cx="2240280" cy="1097280"/>
          </a:xfrm>
          <a:prstGeom prst="rect">
            <a:avLst/>
          </a:prstGeom>
          <a:noFill/>
          <a:ln/>
        </p:spPr>
        <p:txBody>
          <a:bodyPr wrap="square" lIns="0" tIns="0" rIns="0" bIns="0" rtlCol="0" anchor="ctr"/>
          <a:lstStyle/>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Captures non-linear interactions.</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Built-in variable importance</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for the feature influence panel.</a:t>
            </a:r>
            <a:endParaRPr lang="en-US" sz="1200" dirty="0"/>
          </a:p>
        </p:txBody>
      </p:sp>
      <p:sp>
        <p:nvSpPr>
          <p:cNvPr id="13" name="Shape 11"/>
          <p:cNvSpPr/>
          <p:nvPr/>
        </p:nvSpPr>
        <p:spPr>
          <a:xfrm>
            <a:off x="3474720" y="3566160"/>
            <a:ext cx="1188720" cy="320040"/>
          </a:xfrm>
          <a:prstGeom prst="rect">
            <a:avLst/>
          </a:prstGeom>
          <a:solidFill>
            <a:srgbClr val="FFFBEB"/>
          </a:solidFill>
          <a:ln/>
        </p:spPr>
      </p:sp>
      <p:sp>
        <p:nvSpPr>
          <p:cNvPr id="14" name="Text 12"/>
          <p:cNvSpPr/>
          <p:nvPr/>
        </p:nvSpPr>
        <p:spPr>
          <a:xfrm>
            <a:off x="3474720" y="3566160"/>
            <a:ext cx="1188720" cy="320040"/>
          </a:xfrm>
          <a:prstGeom prst="rect">
            <a:avLst/>
          </a:prstGeom>
          <a:noFill/>
          <a:ln/>
        </p:spPr>
        <p:txBody>
          <a:bodyPr wrap="square" lIns="0" tIns="0" rIns="0" bIns="0" rtlCol="0" anchor="ctr"/>
          <a:lstStyle/>
          <a:p>
            <a:pPr algn="ctr" indent="0" marL="0">
              <a:buNone/>
            </a:pPr>
            <a:r>
              <a:rPr lang="en-US" sz="1000" b="1" dirty="0">
                <a:solidFill>
                  <a:srgbClr val="D97706"/>
                </a:solidFill>
                <a:latin typeface="Calibri" pitchFamily="34" charset="0"/>
                <a:ea typeface="Calibri" pitchFamily="34" charset="-122"/>
                <a:cs typeface="Calibri" pitchFamily="34" charset="-120"/>
              </a:rPr>
              <a:t>Post-MVP</a:t>
            </a:r>
            <a:endParaRPr lang="en-US" sz="1000" dirty="0"/>
          </a:p>
        </p:txBody>
      </p:sp>
      <p:sp>
        <p:nvSpPr>
          <p:cNvPr id="15" name="Shape 13"/>
          <p:cNvSpPr/>
          <p:nvPr/>
        </p:nvSpPr>
        <p:spPr>
          <a:xfrm>
            <a:off x="6126480" y="1600200"/>
            <a:ext cx="260604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Text 14"/>
          <p:cNvSpPr/>
          <p:nvPr/>
        </p:nvSpPr>
        <p:spPr>
          <a:xfrm>
            <a:off x="6309360" y="1737360"/>
            <a:ext cx="2240280" cy="457200"/>
          </a:xfrm>
          <a:prstGeom prst="rect">
            <a:avLst/>
          </a:prstGeom>
          <a:noFill/>
          <a:ln/>
        </p:spPr>
        <p:txBody>
          <a:bodyPr wrap="square" lIns="0" tIns="0" rIns="0" bIns="0" rtlCol="0" anchor="ctr"/>
          <a:lstStyle/>
          <a:p>
            <a:pPr indent="0" marL="0">
              <a:buNone/>
            </a:pPr>
            <a:r>
              <a:rPr lang="en-US" sz="1700" b="1" dirty="0">
                <a:solidFill>
                  <a:srgbClr val="1E3A5F"/>
                </a:solidFill>
                <a:latin typeface="Georgia" pitchFamily="34" charset="0"/>
                <a:ea typeface="Georgia" pitchFamily="34" charset="-122"/>
                <a:cs typeface="Georgia" pitchFamily="34" charset="-120"/>
              </a:rPr>
              <a:t>XGBoost</a:t>
            </a:r>
            <a:endParaRPr lang="en-US" sz="1700" dirty="0"/>
          </a:p>
        </p:txBody>
      </p:sp>
      <p:sp>
        <p:nvSpPr>
          <p:cNvPr id="17" name="Text 15"/>
          <p:cNvSpPr/>
          <p:nvPr/>
        </p:nvSpPr>
        <p:spPr>
          <a:xfrm>
            <a:off x="6309360" y="2286000"/>
            <a:ext cx="2240280" cy="1097280"/>
          </a:xfrm>
          <a:prstGeom prst="rect">
            <a:avLst/>
          </a:prstGeom>
          <a:noFill/>
          <a:ln/>
        </p:spPr>
        <p:txBody>
          <a:bodyPr wrap="square" lIns="0" tIns="0" rIns="0" bIns="0" rtlCol="0" anchor="ctr"/>
          <a:lstStyle/>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Best performer on tabular</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financial data. Hyperparameter-</a:t>
            </a:r>
            <a:endParaRPr lang="en-US" sz="1200" dirty="0"/>
          </a:p>
          <a:p>
            <a:pPr indent="0" marL="0">
              <a:lnSpc>
                <a:spcPct val="120000"/>
              </a:lnSpc>
              <a:buNone/>
            </a:pPr>
            <a:r>
              <a:rPr lang="en-US" sz="1200" dirty="0">
                <a:solidFill>
                  <a:srgbClr val="64748B"/>
                </a:solidFill>
                <a:latin typeface="Calibri" pitchFamily="34" charset="0"/>
                <a:ea typeface="Calibri" pitchFamily="34" charset="-122"/>
                <a:cs typeface="Calibri" pitchFamily="34" charset="-120"/>
              </a:rPr>
              <a:t>tuned via cross-validation.</a:t>
            </a:r>
            <a:endParaRPr lang="en-US" sz="1200" dirty="0"/>
          </a:p>
        </p:txBody>
      </p:sp>
      <p:sp>
        <p:nvSpPr>
          <p:cNvPr id="18" name="Shape 16"/>
          <p:cNvSpPr/>
          <p:nvPr/>
        </p:nvSpPr>
        <p:spPr>
          <a:xfrm>
            <a:off x="6309360" y="3566160"/>
            <a:ext cx="1188720" cy="320040"/>
          </a:xfrm>
          <a:prstGeom prst="rect">
            <a:avLst/>
          </a:prstGeom>
          <a:solidFill>
            <a:srgbClr val="FFFBEB"/>
          </a:solidFill>
          <a:ln/>
        </p:spPr>
      </p:sp>
      <p:sp>
        <p:nvSpPr>
          <p:cNvPr id="19" name="Text 17"/>
          <p:cNvSpPr/>
          <p:nvPr/>
        </p:nvSpPr>
        <p:spPr>
          <a:xfrm>
            <a:off x="6309360" y="3566160"/>
            <a:ext cx="1188720" cy="320040"/>
          </a:xfrm>
          <a:prstGeom prst="rect">
            <a:avLst/>
          </a:prstGeom>
          <a:noFill/>
          <a:ln/>
        </p:spPr>
        <p:txBody>
          <a:bodyPr wrap="square" lIns="0" tIns="0" rIns="0" bIns="0" rtlCol="0" anchor="ctr"/>
          <a:lstStyle/>
          <a:p>
            <a:pPr algn="ctr" indent="0" marL="0">
              <a:buNone/>
            </a:pPr>
            <a:r>
              <a:rPr lang="en-US" sz="1000" b="1" dirty="0">
                <a:solidFill>
                  <a:srgbClr val="D97706"/>
                </a:solidFill>
                <a:latin typeface="Calibri" pitchFamily="34" charset="0"/>
                <a:ea typeface="Calibri" pitchFamily="34" charset="-122"/>
                <a:cs typeface="Calibri" pitchFamily="34" charset="-120"/>
              </a:rPr>
              <a:t>Post-MVP</a:t>
            </a:r>
            <a:endParaRPr lang="en-US" sz="1000" dirty="0"/>
          </a:p>
        </p:txBody>
      </p:sp>
      <p:sp>
        <p:nvSpPr>
          <p:cNvPr id="20" name="Text 18"/>
          <p:cNvSpPr/>
          <p:nvPr/>
        </p:nvSpPr>
        <p:spPr>
          <a:xfrm>
            <a:off x="457200" y="4434840"/>
            <a:ext cx="8229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All models implemented with tidymodels in R | Serialized as .rds for Shiny inference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App Features — 5 Tabs</a:t>
            </a:r>
            <a:endParaRPr lang="en-US" sz="3600" dirty="0"/>
          </a:p>
        </p:txBody>
      </p:sp>
      <p:sp>
        <p:nvSpPr>
          <p:cNvPr id="4" name="Shape 2"/>
          <p:cNvSpPr/>
          <p:nvPr/>
        </p:nvSpPr>
        <p:spPr>
          <a:xfrm>
            <a:off x="457200" y="1143000"/>
            <a:ext cx="26060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40080" y="1280160"/>
            <a:ext cx="365760" cy="365760"/>
          </a:xfrm>
          <a:prstGeom prst="rect">
            <a:avLst/>
          </a:prstGeom>
        </p:spPr>
      </p:pic>
      <p:sp>
        <p:nvSpPr>
          <p:cNvPr id="6" name="Text 3"/>
          <p:cNvSpPr/>
          <p:nvPr/>
        </p:nvSpPr>
        <p:spPr>
          <a:xfrm>
            <a:off x="640080" y="1691640"/>
            <a:ext cx="2240280" cy="320040"/>
          </a:xfrm>
          <a:prstGeom prst="rect">
            <a:avLst/>
          </a:prstGeom>
          <a:noFill/>
          <a:ln/>
        </p:spPr>
        <p:txBody>
          <a:bodyPr wrap="square" lIns="0" tIns="0" rIns="0" bIns="0" rtlCol="0" anchor="ctr"/>
          <a:lstStyle/>
          <a:p>
            <a:pPr indent="0" marL="0">
              <a:buNone/>
            </a:pPr>
            <a:r>
              <a:rPr lang="en-US" sz="1500" b="1" dirty="0">
                <a:solidFill>
                  <a:srgbClr val="1E3A5F"/>
                </a:solidFill>
                <a:latin typeface="Georgia" pitchFamily="34" charset="0"/>
                <a:ea typeface="Georgia" pitchFamily="34" charset="-122"/>
                <a:cs typeface="Georgia" pitchFamily="34" charset="-120"/>
              </a:rPr>
              <a:t>Overview</a:t>
            </a:r>
            <a:endParaRPr lang="en-US" sz="1500" dirty="0"/>
          </a:p>
        </p:txBody>
      </p:sp>
      <p:sp>
        <p:nvSpPr>
          <p:cNvPr id="7" name="Text 4"/>
          <p:cNvSpPr/>
          <p:nvPr/>
        </p:nvSpPr>
        <p:spPr>
          <a:xfrm>
            <a:off x="640080" y="2011680"/>
            <a:ext cx="2240280" cy="77724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Executive summary with key stats</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(150K loans, 4.31% positive rate,</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AUC 0.755), scope, and limitations</a:t>
            </a:r>
            <a:endParaRPr lang="en-US" sz="1100" dirty="0"/>
          </a:p>
        </p:txBody>
      </p:sp>
      <p:sp>
        <p:nvSpPr>
          <p:cNvPr id="8" name="Shape 5"/>
          <p:cNvSpPr/>
          <p:nvPr/>
        </p:nvSpPr>
        <p:spPr>
          <a:xfrm>
            <a:off x="3291840" y="1143000"/>
            <a:ext cx="26060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3474720" y="1280160"/>
            <a:ext cx="365760" cy="365760"/>
          </a:xfrm>
          <a:prstGeom prst="rect">
            <a:avLst/>
          </a:prstGeom>
        </p:spPr>
      </p:pic>
      <p:sp>
        <p:nvSpPr>
          <p:cNvPr id="10" name="Text 6"/>
          <p:cNvSpPr/>
          <p:nvPr/>
        </p:nvSpPr>
        <p:spPr>
          <a:xfrm>
            <a:off x="3474720" y="1691640"/>
            <a:ext cx="2240280" cy="320040"/>
          </a:xfrm>
          <a:prstGeom prst="rect">
            <a:avLst/>
          </a:prstGeom>
          <a:noFill/>
          <a:ln/>
        </p:spPr>
        <p:txBody>
          <a:bodyPr wrap="square" lIns="0" tIns="0" rIns="0" bIns="0" rtlCol="0" anchor="ctr"/>
          <a:lstStyle/>
          <a:p>
            <a:pPr indent="0" marL="0">
              <a:buNone/>
            </a:pPr>
            <a:r>
              <a:rPr lang="en-US" sz="1500" b="1" dirty="0">
                <a:solidFill>
                  <a:srgbClr val="1E3A5F"/>
                </a:solidFill>
                <a:latin typeface="Georgia" pitchFamily="34" charset="0"/>
                <a:ea typeface="Georgia" pitchFamily="34" charset="-122"/>
                <a:cs typeface="Georgia" pitchFamily="34" charset="-120"/>
              </a:rPr>
              <a:t>My Profile</a:t>
            </a:r>
            <a:endParaRPr lang="en-US" sz="1500" dirty="0"/>
          </a:p>
        </p:txBody>
      </p:sp>
      <p:sp>
        <p:nvSpPr>
          <p:cNvPr id="11" name="Text 7"/>
          <p:cNvSpPr/>
          <p:nvPr/>
        </p:nvSpPr>
        <p:spPr>
          <a:xfrm>
            <a:off x="3474720" y="2011680"/>
            <a:ext cx="2240280" cy="77724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Input form with risk estimate,</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risk tier, recommendation panel,</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top drivers chart, and sample</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comparison table</a:t>
            </a:r>
            <a:endParaRPr lang="en-US" sz="1100" dirty="0"/>
          </a:p>
        </p:txBody>
      </p:sp>
      <p:sp>
        <p:nvSpPr>
          <p:cNvPr id="12" name="Shape 8"/>
          <p:cNvSpPr/>
          <p:nvPr/>
        </p:nvSpPr>
        <p:spPr>
          <a:xfrm>
            <a:off x="6126480" y="1143000"/>
            <a:ext cx="26060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309360" y="1280160"/>
            <a:ext cx="365760" cy="365760"/>
          </a:xfrm>
          <a:prstGeom prst="rect">
            <a:avLst/>
          </a:prstGeom>
        </p:spPr>
      </p:pic>
      <p:sp>
        <p:nvSpPr>
          <p:cNvPr id="14" name="Text 9"/>
          <p:cNvSpPr/>
          <p:nvPr/>
        </p:nvSpPr>
        <p:spPr>
          <a:xfrm>
            <a:off x="6309360" y="1691640"/>
            <a:ext cx="2240280" cy="320040"/>
          </a:xfrm>
          <a:prstGeom prst="rect">
            <a:avLst/>
          </a:prstGeom>
          <a:noFill/>
          <a:ln/>
        </p:spPr>
        <p:txBody>
          <a:bodyPr wrap="square" lIns="0" tIns="0" rIns="0" bIns="0" rtlCol="0" anchor="ctr"/>
          <a:lstStyle/>
          <a:p>
            <a:pPr indent="0" marL="0">
              <a:buNone/>
            </a:pPr>
            <a:r>
              <a:rPr lang="en-US" sz="1500" b="1" dirty="0">
                <a:solidFill>
                  <a:srgbClr val="1E3A5F"/>
                </a:solidFill>
                <a:latin typeface="Georgia" pitchFamily="34" charset="0"/>
                <a:ea typeface="Georgia" pitchFamily="34" charset="-122"/>
                <a:cs typeface="Georgia" pitchFamily="34" charset="-120"/>
              </a:rPr>
              <a:t>Scenario Simulator</a:t>
            </a:r>
            <a:endParaRPr lang="en-US" sz="1500" dirty="0"/>
          </a:p>
        </p:txBody>
      </p:sp>
      <p:sp>
        <p:nvSpPr>
          <p:cNvPr id="15" name="Text 10"/>
          <p:cNvSpPr/>
          <p:nvPr/>
        </p:nvSpPr>
        <p:spPr>
          <a:xfrm>
            <a:off x="6309360" y="2011680"/>
            <a:ext cx="2240280" cy="77724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What-if sliders for income, loan</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amount, property value, DTI, and</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rate changes — with baseline vs</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scenario comparison</a:t>
            </a:r>
            <a:endParaRPr lang="en-US" sz="1100" dirty="0"/>
          </a:p>
        </p:txBody>
      </p:sp>
      <p:sp>
        <p:nvSpPr>
          <p:cNvPr id="16" name="Shape 11"/>
          <p:cNvSpPr/>
          <p:nvPr/>
        </p:nvSpPr>
        <p:spPr>
          <a:xfrm>
            <a:off x="1874520" y="3200400"/>
            <a:ext cx="26060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2057400" y="3337560"/>
            <a:ext cx="365760" cy="365760"/>
          </a:xfrm>
          <a:prstGeom prst="rect">
            <a:avLst/>
          </a:prstGeom>
        </p:spPr>
      </p:pic>
      <p:sp>
        <p:nvSpPr>
          <p:cNvPr id="18" name="Text 12"/>
          <p:cNvSpPr/>
          <p:nvPr/>
        </p:nvSpPr>
        <p:spPr>
          <a:xfrm>
            <a:off x="2057400" y="3749040"/>
            <a:ext cx="2240280" cy="320040"/>
          </a:xfrm>
          <a:prstGeom prst="rect">
            <a:avLst/>
          </a:prstGeom>
          <a:noFill/>
          <a:ln/>
        </p:spPr>
        <p:txBody>
          <a:bodyPr wrap="square" lIns="0" tIns="0" rIns="0" bIns="0" rtlCol="0" anchor="ctr"/>
          <a:lstStyle/>
          <a:p>
            <a:pPr indent="0" marL="0">
              <a:buNone/>
            </a:pPr>
            <a:r>
              <a:rPr lang="en-US" sz="1500" b="1" dirty="0">
                <a:solidFill>
                  <a:srgbClr val="1E3A5F"/>
                </a:solidFill>
                <a:latin typeface="Georgia" pitchFamily="34" charset="0"/>
                <a:ea typeface="Georgia" pitchFamily="34" charset="-122"/>
                <a:cs typeface="Georgia" pitchFamily="34" charset="-120"/>
              </a:rPr>
              <a:t>Model Evidence</a:t>
            </a:r>
            <a:endParaRPr lang="en-US" sz="1500" dirty="0"/>
          </a:p>
        </p:txBody>
      </p:sp>
      <p:sp>
        <p:nvSpPr>
          <p:cNvPr id="19" name="Text 13"/>
          <p:cNvSpPr/>
          <p:nvPr/>
        </p:nvSpPr>
        <p:spPr>
          <a:xfrm>
            <a:off x="2057400" y="4069080"/>
            <a:ext cx="2240280" cy="77724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ROC curve, confusion matrix,</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calibration plot, placeholder audit,</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borrower demo cases reproduced</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in R</a:t>
            </a:r>
            <a:endParaRPr lang="en-US" sz="1100" dirty="0"/>
          </a:p>
        </p:txBody>
      </p:sp>
      <p:sp>
        <p:nvSpPr>
          <p:cNvPr id="20" name="Shape 14"/>
          <p:cNvSpPr/>
          <p:nvPr/>
        </p:nvSpPr>
        <p:spPr>
          <a:xfrm>
            <a:off x="4709160" y="3200400"/>
            <a:ext cx="26060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1" name="Image 4" descr="preencoded.png">    </p:cNvPr>
          <p:cNvPicPr>
            <a:picLocks noChangeAspect="1"/>
          </p:cNvPicPr>
          <p:nvPr/>
        </p:nvPicPr>
        <p:blipFill>
          <a:blip r:embed="rId5"/>
          <a:stretch>
            <a:fillRect/>
          </a:stretch>
        </p:blipFill>
        <p:spPr>
          <a:xfrm>
            <a:off x="4892040" y="3337560"/>
            <a:ext cx="365760" cy="365760"/>
          </a:xfrm>
          <a:prstGeom prst="rect">
            <a:avLst/>
          </a:prstGeom>
        </p:spPr>
      </p:pic>
      <p:sp>
        <p:nvSpPr>
          <p:cNvPr id="22" name="Text 15"/>
          <p:cNvSpPr/>
          <p:nvPr/>
        </p:nvSpPr>
        <p:spPr>
          <a:xfrm>
            <a:off x="4892040" y="3749040"/>
            <a:ext cx="2240280" cy="320040"/>
          </a:xfrm>
          <a:prstGeom prst="rect">
            <a:avLst/>
          </a:prstGeom>
          <a:noFill/>
          <a:ln/>
        </p:spPr>
        <p:txBody>
          <a:bodyPr wrap="square" lIns="0" tIns="0" rIns="0" bIns="0" rtlCol="0" anchor="ctr"/>
          <a:lstStyle/>
          <a:p>
            <a:pPr indent="0" marL="0">
              <a:buNone/>
            </a:pPr>
            <a:r>
              <a:rPr lang="en-US" sz="1500" b="1" dirty="0">
                <a:solidFill>
                  <a:srgbClr val="1E3A5F"/>
                </a:solidFill>
                <a:latin typeface="Georgia" pitchFamily="34" charset="0"/>
                <a:ea typeface="Georgia" pitchFamily="34" charset="-122"/>
                <a:cs typeface="Georgia" pitchFamily="34" charset="-120"/>
              </a:rPr>
              <a:t>Project Review</a:t>
            </a:r>
            <a:endParaRPr lang="en-US" sz="1500" dirty="0"/>
          </a:p>
        </p:txBody>
      </p:sp>
      <p:sp>
        <p:nvSpPr>
          <p:cNvPr id="23" name="Text 16"/>
          <p:cNvSpPr/>
          <p:nvPr/>
        </p:nvSpPr>
        <p:spPr>
          <a:xfrm>
            <a:off x="4892040" y="4069080"/>
            <a:ext cx="2240280" cy="77724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Proposal alignment, what the app</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fixes vs. the notebook demo,</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important limitations, and</a:t>
            </a:r>
            <a:endParaRPr lang="en-US" sz="1100" dirty="0"/>
          </a:p>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transparency notes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Model Performance</a:t>
            </a:r>
            <a:endParaRPr lang="en-US" sz="3600" dirty="0"/>
          </a:p>
        </p:txBody>
      </p:sp>
      <p:sp>
        <p:nvSpPr>
          <p:cNvPr id="4" name="Shape 2"/>
          <p:cNvSpPr/>
          <p:nvPr/>
        </p:nvSpPr>
        <p:spPr>
          <a:xfrm>
            <a:off x="457200" y="1143000"/>
            <a:ext cx="19202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457200" y="1234440"/>
            <a:ext cx="1920240" cy="640080"/>
          </a:xfrm>
          <a:prstGeom prst="rect">
            <a:avLst/>
          </a:prstGeom>
          <a:noFill/>
          <a:ln/>
        </p:spPr>
        <p:txBody>
          <a:bodyPr wrap="square" lIns="0" tIns="0" rIns="0" bIns="0" rtlCol="0" anchor="ctr"/>
          <a:lstStyle/>
          <a:p>
            <a:pPr algn="ctr" indent="0" marL="0">
              <a:buNone/>
            </a:pPr>
            <a:r>
              <a:rPr lang="en-US" sz="3200" b="1" dirty="0">
                <a:solidFill>
                  <a:srgbClr val="1E3A5F"/>
                </a:solidFill>
                <a:latin typeface="Consolas" pitchFamily="34" charset="0"/>
                <a:ea typeface="Consolas" pitchFamily="34" charset="-122"/>
                <a:cs typeface="Consolas" pitchFamily="34" charset="-120"/>
              </a:rPr>
              <a:t>150K</a:t>
            </a:r>
            <a:endParaRPr lang="en-US" sz="3200" dirty="0"/>
          </a:p>
        </p:txBody>
      </p:sp>
      <p:sp>
        <p:nvSpPr>
          <p:cNvPr id="6" name="Text 4"/>
          <p:cNvSpPr/>
          <p:nvPr/>
        </p:nvSpPr>
        <p:spPr>
          <a:xfrm>
            <a:off x="457200" y="1874520"/>
            <a:ext cx="192024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Loans Trained</a:t>
            </a:r>
            <a:endParaRPr lang="en-US" sz="1200" dirty="0"/>
          </a:p>
        </p:txBody>
      </p:sp>
      <p:sp>
        <p:nvSpPr>
          <p:cNvPr id="7" name="Text 5"/>
          <p:cNvSpPr/>
          <p:nvPr/>
        </p:nvSpPr>
        <p:spPr>
          <a:xfrm>
            <a:off x="594360" y="2194560"/>
            <a:ext cx="1645920" cy="548640"/>
          </a:xfrm>
          <a:prstGeom prst="rect">
            <a:avLst/>
          </a:prstGeom>
          <a:noFill/>
          <a:ln/>
        </p:spPr>
        <p:txBody>
          <a:bodyPr wrap="square" lIns="0" tIns="0" rIns="0" bIns="0" rtlCol="0" anchor="ctr"/>
          <a:lstStyle/>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Freddie Mac 2018–2020</a:t>
            </a:r>
            <a:endParaRPr lang="en-US" sz="1000" dirty="0"/>
          </a:p>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stratified sample</a:t>
            </a:r>
            <a:endParaRPr lang="en-US" sz="1000" dirty="0"/>
          </a:p>
        </p:txBody>
      </p:sp>
      <p:sp>
        <p:nvSpPr>
          <p:cNvPr id="8" name="Shape 6"/>
          <p:cNvSpPr/>
          <p:nvPr/>
        </p:nvSpPr>
        <p:spPr>
          <a:xfrm>
            <a:off x="2606040" y="1143000"/>
            <a:ext cx="19202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2606040" y="1234440"/>
            <a:ext cx="1920240" cy="640080"/>
          </a:xfrm>
          <a:prstGeom prst="rect">
            <a:avLst/>
          </a:prstGeom>
          <a:noFill/>
          <a:ln/>
        </p:spPr>
        <p:txBody>
          <a:bodyPr wrap="square" lIns="0" tIns="0" rIns="0" bIns="0" rtlCol="0" anchor="ctr"/>
          <a:lstStyle/>
          <a:p>
            <a:pPr algn="ctr" indent="0" marL="0">
              <a:buNone/>
            </a:pPr>
            <a:r>
              <a:rPr lang="en-US" sz="3200" b="1" dirty="0">
                <a:solidFill>
                  <a:srgbClr val="1E3A5F"/>
                </a:solidFill>
                <a:latin typeface="Consolas" pitchFamily="34" charset="0"/>
                <a:ea typeface="Consolas" pitchFamily="34" charset="-122"/>
                <a:cs typeface="Consolas" pitchFamily="34" charset="-120"/>
              </a:rPr>
              <a:t>0.755</a:t>
            </a:r>
            <a:endParaRPr lang="en-US" sz="3200" dirty="0"/>
          </a:p>
        </p:txBody>
      </p:sp>
      <p:sp>
        <p:nvSpPr>
          <p:cNvPr id="10" name="Text 8"/>
          <p:cNvSpPr/>
          <p:nvPr/>
        </p:nvSpPr>
        <p:spPr>
          <a:xfrm>
            <a:off x="2606040" y="1874520"/>
            <a:ext cx="192024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Held-Out AUC</a:t>
            </a:r>
            <a:endParaRPr lang="en-US" sz="1200" dirty="0"/>
          </a:p>
        </p:txBody>
      </p:sp>
      <p:sp>
        <p:nvSpPr>
          <p:cNvPr id="11" name="Text 9"/>
          <p:cNvSpPr/>
          <p:nvPr/>
        </p:nvSpPr>
        <p:spPr>
          <a:xfrm>
            <a:off x="2743200" y="2194560"/>
            <a:ext cx="1645920" cy="548640"/>
          </a:xfrm>
          <a:prstGeom prst="rect">
            <a:avLst/>
          </a:prstGeom>
          <a:noFill/>
          <a:ln/>
        </p:spPr>
        <p:txBody>
          <a:bodyPr wrap="square" lIns="0" tIns="0" rIns="0" bIns="0" rtlCol="0" anchor="ctr"/>
          <a:lstStyle/>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Correctly ranks risky vs.</a:t>
            </a:r>
            <a:endParaRPr lang="en-US" sz="1000" dirty="0"/>
          </a:p>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safe borrowers 76% of the time</a:t>
            </a:r>
            <a:endParaRPr lang="en-US" sz="1000" dirty="0"/>
          </a:p>
        </p:txBody>
      </p:sp>
      <p:sp>
        <p:nvSpPr>
          <p:cNvPr id="12" name="Shape 10"/>
          <p:cNvSpPr/>
          <p:nvPr/>
        </p:nvSpPr>
        <p:spPr>
          <a:xfrm>
            <a:off x="4754880" y="1143000"/>
            <a:ext cx="19202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4754880" y="1234440"/>
            <a:ext cx="1920240" cy="640080"/>
          </a:xfrm>
          <a:prstGeom prst="rect">
            <a:avLst/>
          </a:prstGeom>
          <a:noFill/>
          <a:ln/>
        </p:spPr>
        <p:txBody>
          <a:bodyPr wrap="square" lIns="0" tIns="0" rIns="0" bIns="0" rtlCol="0" anchor="ctr"/>
          <a:lstStyle/>
          <a:p>
            <a:pPr algn="ctr" indent="0" marL="0">
              <a:buNone/>
            </a:pPr>
            <a:r>
              <a:rPr lang="en-US" sz="3200" b="1" dirty="0">
                <a:solidFill>
                  <a:srgbClr val="1E3A5F"/>
                </a:solidFill>
                <a:latin typeface="Consolas" pitchFamily="34" charset="0"/>
                <a:ea typeface="Consolas" pitchFamily="34" charset="-122"/>
                <a:cs typeface="Consolas" pitchFamily="34" charset="-120"/>
              </a:rPr>
              <a:t>0.753</a:t>
            </a:r>
            <a:endParaRPr lang="en-US" sz="3200" dirty="0"/>
          </a:p>
        </p:txBody>
      </p:sp>
      <p:sp>
        <p:nvSpPr>
          <p:cNvPr id="14" name="Text 12"/>
          <p:cNvSpPr/>
          <p:nvPr/>
        </p:nvSpPr>
        <p:spPr>
          <a:xfrm>
            <a:off x="4754880" y="1874520"/>
            <a:ext cx="192024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Mean CV AUC</a:t>
            </a:r>
            <a:endParaRPr lang="en-US" sz="1200" dirty="0"/>
          </a:p>
        </p:txBody>
      </p:sp>
      <p:sp>
        <p:nvSpPr>
          <p:cNvPr id="15" name="Text 13"/>
          <p:cNvSpPr/>
          <p:nvPr/>
        </p:nvSpPr>
        <p:spPr>
          <a:xfrm>
            <a:off x="4892040" y="2194560"/>
            <a:ext cx="1645920" cy="548640"/>
          </a:xfrm>
          <a:prstGeom prst="rect">
            <a:avLst/>
          </a:prstGeom>
          <a:noFill/>
          <a:ln/>
        </p:spPr>
        <p:txBody>
          <a:bodyPr wrap="square" lIns="0" tIns="0" rIns="0" bIns="0" rtlCol="0" anchor="ctr"/>
          <a:lstStyle/>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Stable across cross-validation</a:t>
            </a:r>
            <a:endParaRPr lang="en-US" sz="1000" dirty="0"/>
          </a:p>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folds — not overfitting</a:t>
            </a:r>
            <a:endParaRPr lang="en-US" sz="1000" dirty="0"/>
          </a:p>
        </p:txBody>
      </p:sp>
      <p:sp>
        <p:nvSpPr>
          <p:cNvPr id="16" name="Shape 14"/>
          <p:cNvSpPr/>
          <p:nvPr/>
        </p:nvSpPr>
        <p:spPr>
          <a:xfrm>
            <a:off x="6903720" y="1143000"/>
            <a:ext cx="192024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Text 15"/>
          <p:cNvSpPr/>
          <p:nvPr/>
        </p:nvSpPr>
        <p:spPr>
          <a:xfrm>
            <a:off x="6903720" y="1234440"/>
            <a:ext cx="1920240" cy="640080"/>
          </a:xfrm>
          <a:prstGeom prst="rect">
            <a:avLst/>
          </a:prstGeom>
          <a:noFill/>
          <a:ln/>
        </p:spPr>
        <p:txBody>
          <a:bodyPr wrap="square" lIns="0" tIns="0" rIns="0" bIns="0" rtlCol="0" anchor="ctr"/>
          <a:lstStyle/>
          <a:p>
            <a:pPr algn="ctr" indent="0" marL="0">
              <a:buNone/>
            </a:pPr>
            <a:r>
              <a:rPr lang="en-US" sz="3200" b="1" dirty="0">
                <a:solidFill>
                  <a:srgbClr val="1E3A5F"/>
                </a:solidFill>
                <a:latin typeface="Consolas" pitchFamily="34" charset="0"/>
                <a:ea typeface="Consolas" pitchFamily="34" charset="-122"/>
                <a:cs typeface="Consolas" pitchFamily="34" charset="-120"/>
              </a:rPr>
              <a:t>4.31%</a:t>
            </a:r>
            <a:endParaRPr lang="en-US" sz="3200" dirty="0"/>
          </a:p>
        </p:txBody>
      </p:sp>
      <p:sp>
        <p:nvSpPr>
          <p:cNvPr id="18" name="Text 16"/>
          <p:cNvSpPr/>
          <p:nvPr/>
        </p:nvSpPr>
        <p:spPr>
          <a:xfrm>
            <a:off x="6903720" y="1874520"/>
            <a:ext cx="192024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Positive Class</a:t>
            </a:r>
            <a:endParaRPr lang="en-US" sz="1200" dirty="0"/>
          </a:p>
        </p:txBody>
      </p:sp>
      <p:sp>
        <p:nvSpPr>
          <p:cNvPr id="19" name="Text 17"/>
          <p:cNvSpPr/>
          <p:nvPr/>
        </p:nvSpPr>
        <p:spPr>
          <a:xfrm>
            <a:off x="7040880" y="2194560"/>
            <a:ext cx="1645920" cy="548640"/>
          </a:xfrm>
          <a:prstGeom prst="rect">
            <a:avLst/>
          </a:prstGeom>
          <a:noFill/>
          <a:ln/>
        </p:spPr>
        <p:txBody>
          <a:bodyPr wrap="square" lIns="0" tIns="0" rIns="0" bIns="0" rtlCol="0" anchor="ctr"/>
          <a:lstStyle/>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Only ~4% of loans default —</a:t>
            </a:r>
            <a:endParaRPr lang="en-US" sz="1000" dirty="0"/>
          </a:p>
          <a:p>
            <a:pPr algn="ctr" indent="0" marL="0">
              <a:lnSpc>
                <a:spcPct val="120000"/>
              </a:lnSpc>
              <a:buNone/>
            </a:pPr>
            <a:r>
              <a:rPr lang="en-US" sz="1000" dirty="0">
                <a:solidFill>
                  <a:srgbClr val="64748B"/>
                </a:solidFill>
                <a:latin typeface="Calibri" pitchFamily="34" charset="0"/>
                <a:ea typeface="Calibri" pitchFamily="34" charset="-122"/>
                <a:cs typeface="Calibri" pitchFamily="34" charset="-120"/>
              </a:rPr>
              <a:t>heavy class imbalance</a:t>
            </a:r>
            <a:endParaRPr lang="en-US" sz="1000" dirty="0"/>
          </a:p>
        </p:txBody>
      </p:sp>
      <p:sp>
        <p:nvSpPr>
          <p:cNvPr id="20" name="Shape 18"/>
          <p:cNvSpPr/>
          <p:nvPr/>
        </p:nvSpPr>
        <p:spPr>
          <a:xfrm>
            <a:off x="457200" y="3154680"/>
            <a:ext cx="3931920" cy="1645920"/>
          </a:xfrm>
          <a:prstGeom prst="rect">
            <a:avLst/>
          </a:prstGeom>
          <a:solidFill>
            <a:srgbClr val="EFF6FF"/>
          </a:solidFill>
          <a:ln/>
          <a:effectLst>
            <a:outerShdw sx="100000" sy="100000" kx="0" ky="0" algn="bl" rotWithShape="0" blurRad="76200" dist="25400" dir="8100000">
              <a:srgbClr val="000000">
                <a:alpha val="12000"/>
              </a:srgbClr>
            </a:outerShdw>
          </a:effectLst>
        </p:spPr>
      </p:sp>
      <p:sp>
        <p:nvSpPr>
          <p:cNvPr id="21" name="Shape 19"/>
          <p:cNvSpPr/>
          <p:nvPr/>
        </p:nvSpPr>
        <p:spPr>
          <a:xfrm>
            <a:off x="457200" y="3154680"/>
            <a:ext cx="73152" cy="1645920"/>
          </a:xfrm>
          <a:prstGeom prst="rect">
            <a:avLst/>
          </a:prstGeom>
          <a:solidFill>
            <a:srgbClr val="38BDF8"/>
          </a:solidFill>
          <a:ln/>
        </p:spPr>
      </p:sp>
      <p:sp>
        <p:nvSpPr>
          <p:cNvPr id="22" name="Text 20"/>
          <p:cNvSpPr/>
          <p:nvPr/>
        </p:nvSpPr>
        <p:spPr>
          <a:xfrm>
            <a:off x="777240" y="3200400"/>
            <a:ext cx="3474720" cy="274320"/>
          </a:xfrm>
          <a:prstGeom prst="rect">
            <a:avLst/>
          </a:prstGeom>
          <a:noFill/>
          <a:ln/>
        </p:spPr>
        <p:txBody>
          <a:bodyPr wrap="square" lIns="0" tIns="0" rIns="0" bIns="0" rtlCol="0" anchor="ctr"/>
          <a:lstStyle/>
          <a:p>
            <a:pPr indent="0" marL="0">
              <a:buNone/>
            </a:pPr>
            <a:r>
              <a:rPr lang="en-US" sz="1600" b="1" dirty="0">
                <a:solidFill>
                  <a:srgbClr val="1E3A5F"/>
                </a:solidFill>
                <a:latin typeface="Georgia" pitchFamily="34" charset="0"/>
                <a:ea typeface="Georgia" pitchFamily="34" charset="-122"/>
                <a:cs typeface="Georgia" pitchFamily="34" charset="-120"/>
              </a:rPr>
              <a:t>In Plain English</a:t>
            </a:r>
            <a:endParaRPr lang="en-US" sz="1600" dirty="0"/>
          </a:p>
        </p:txBody>
      </p:sp>
      <p:sp>
        <p:nvSpPr>
          <p:cNvPr id="23" name="Text 21"/>
          <p:cNvSpPr/>
          <p:nvPr/>
        </p:nvSpPr>
        <p:spPr>
          <a:xfrm>
            <a:off x="777240" y="3520440"/>
            <a:ext cx="3474720" cy="1143000"/>
          </a:xfrm>
          <a:prstGeom prst="rect">
            <a:avLst/>
          </a:prstGeom>
          <a:noFill/>
          <a:ln/>
        </p:spPr>
        <p:txBody>
          <a:bodyPr wrap="square" lIns="0" tIns="0" rIns="0" bIns="0" rtlCol="0" anchor="ctr"/>
          <a:lstStyle/>
          <a:p>
            <a:pPr indent="0" marL="0">
              <a:lnSpc>
                <a:spcPct val="125000"/>
              </a:lnSpc>
              <a:buNone/>
            </a:pPr>
            <a:r>
              <a:rPr lang="en-US" sz="1100" dirty="0">
                <a:solidFill>
                  <a:srgbClr val="334155"/>
                </a:solidFill>
                <a:latin typeface="Calibri" pitchFamily="34" charset="0"/>
                <a:ea typeface="Calibri" pitchFamily="34" charset="-122"/>
                <a:cs typeface="Calibri" pitchFamily="34" charset="-120"/>
              </a:rPr>
              <a:t>If you lined up 100 past borrowers and asked this model to sort them from most to least likely to default, it would get the ranking right about 76 out of 100 times. We emphasize AUC over accuracy because with only 4.3% defaults, a naive model scores 96% but catches zero defaults.</a:t>
            </a:r>
            <a:endParaRPr lang="en-US" sz="1100" dirty="0"/>
          </a:p>
        </p:txBody>
      </p:sp>
      <p:sp>
        <p:nvSpPr>
          <p:cNvPr id="24" name="Shape 22"/>
          <p:cNvSpPr/>
          <p:nvPr/>
        </p:nvSpPr>
        <p:spPr>
          <a:xfrm>
            <a:off x="4754880" y="315468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4754880" y="3154680"/>
            <a:ext cx="73152" cy="1645920"/>
          </a:xfrm>
          <a:prstGeom prst="rect">
            <a:avLst/>
          </a:prstGeom>
          <a:solidFill>
            <a:srgbClr val="0D9488"/>
          </a:solidFill>
          <a:ln/>
        </p:spPr>
      </p:sp>
      <p:sp>
        <p:nvSpPr>
          <p:cNvPr id="26" name="Text 24"/>
          <p:cNvSpPr/>
          <p:nvPr/>
        </p:nvSpPr>
        <p:spPr>
          <a:xfrm>
            <a:off x="5074920" y="3246120"/>
            <a:ext cx="3474720" cy="320040"/>
          </a:xfrm>
          <a:prstGeom prst="rect">
            <a:avLst/>
          </a:prstGeom>
          <a:noFill/>
          <a:ln/>
        </p:spPr>
        <p:txBody>
          <a:bodyPr wrap="square" lIns="0" tIns="0" rIns="0" bIns="0" rtlCol="0" anchor="ctr"/>
          <a:lstStyle/>
          <a:p>
            <a:pPr indent="0" marL="0">
              <a:buNone/>
            </a:pPr>
            <a:r>
              <a:rPr lang="en-US" sz="1800" b="1" dirty="0">
                <a:solidFill>
                  <a:srgbClr val="1E3A5F"/>
                </a:solidFill>
                <a:latin typeface="Georgia" pitchFamily="34" charset="0"/>
                <a:ea typeface="Georgia" pitchFamily="34" charset="-122"/>
                <a:cs typeface="Georgia" pitchFamily="34" charset="-120"/>
              </a:rPr>
              <a:t>Model Evidence Included</a:t>
            </a:r>
            <a:endParaRPr lang="en-US" sz="1800" dirty="0"/>
          </a:p>
        </p:txBody>
      </p:sp>
      <p:sp>
        <p:nvSpPr>
          <p:cNvPr id="27" name="Text 25"/>
          <p:cNvSpPr/>
          <p:nvPr/>
        </p:nvSpPr>
        <p:spPr>
          <a:xfrm>
            <a:off x="5074920" y="3611880"/>
            <a:ext cx="3474720" cy="105156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ROC curve with AUC = 0.755</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Confusion matrix at threshold 0.10</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Calibration plot (predicted vs observed)</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Freddie Mac placeholder audit table</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Borrower demo cases reproduced in 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Addressing Feedback</a:t>
            </a:r>
            <a:endParaRPr lang="en-US" sz="3600" dirty="0"/>
          </a:p>
        </p:txBody>
      </p:sp>
      <p:sp>
        <p:nvSpPr>
          <p:cNvPr id="4" name="Shape 2"/>
          <p:cNvSpPr/>
          <p:nvPr/>
        </p:nvSpPr>
        <p:spPr>
          <a:xfrm>
            <a:off x="457200" y="109728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40080" y="1280160"/>
            <a:ext cx="365760" cy="365760"/>
          </a:xfrm>
          <a:prstGeom prst="rect">
            <a:avLst/>
          </a:prstGeom>
        </p:spPr>
      </p:pic>
      <p:sp>
        <p:nvSpPr>
          <p:cNvPr id="6" name="Text 3"/>
          <p:cNvSpPr/>
          <p:nvPr/>
        </p:nvSpPr>
        <p:spPr>
          <a:xfrm>
            <a:off x="1188720" y="1143000"/>
            <a:ext cx="2926080" cy="731520"/>
          </a:xfrm>
          <a:prstGeom prst="rect">
            <a:avLst/>
          </a:prstGeom>
          <a:noFill/>
          <a:ln/>
        </p:spPr>
        <p:txBody>
          <a:bodyPr wrap="square" lIns="0" tIns="0" rIns="0" bIns="0" rtlCol="0" anchor="ctr"/>
          <a:lstStyle/>
          <a:p>
            <a:pPr indent="0" marL="0">
              <a:buNone/>
            </a:pPr>
            <a:r>
              <a:rPr lang="en-US" sz="1300" b="1" dirty="0">
                <a:solidFill>
                  <a:srgbClr val="1E3A5F"/>
                </a:solidFill>
                <a:latin typeface="Georgia" pitchFamily="34" charset="0"/>
                <a:ea typeface="Georgia" pitchFamily="34" charset="-122"/>
                <a:cs typeface="Georgia" pitchFamily="34" charset="-120"/>
              </a:rPr>
              <a:t>Present accuracy for non-ML audience</a:t>
            </a:r>
            <a:endParaRPr lang="en-US" sz="1300" dirty="0"/>
          </a:p>
        </p:txBody>
      </p:sp>
      <p:sp>
        <p:nvSpPr>
          <p:cNvPr id="7" name="Text 4"/>
          <p:cNvSpPr/>
          <p:nvPr/>
        </p:nvSpPr>
        <p:spPr>
          <a:xfrm>
            <a:off x="4206240" y="1143000"/>
            <a:ext cx="4297680" cy="731520"/>
          </a:xfrm>
          <a:prstGeom prst="rect">
            <a:avLst/>
          </a:prstGeom>
          <a:noFill/>
          <a:ln/>
        </p:spPr>
        <p:txBody>
          <a:bodyPr wrap="square" lIns="0" tIns="0" rIns="0" bIns="0"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Recommendation panel uses plain language ("relatively favorable"). AUC emphasized over accuracy because 96% accuracy is misleading with 4.3% default rate.</a:t>
            </a:r>
            <a:endParaRPr lang="en-US" sz="1100" dirty="0"/>
          </a:p>
        </p:txBody>
      </p:sp>
      <p:sp>
        <p:nvSpPr>
          <p:cNvPr id="8" name="Shape 5"/>
          <p:cNvSpPr/>
          <p:nvPr/>
        </p:nvSpPr>
        <p:spPr>
          <a:xfrm>
            <a:off x="457200" y="205740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640080" y="2240280"/>
            <a:ext cx="365760" cy="365760"/>
          </a:xfrm>
          <a:prstGeom prst="rect">
            <a:avLst/>
          </a:prstGeom>
        </p:spPr>
      </p:pic>
      <p:sp>
        <p:nvSpPr>
          <p:cNvPr id="10" name="Text 6"/>
          <p:cNvSpPr/>
          <p:nvPr/>
        </p:nvSpPr>
        <p:spPr>
          <a:xfrm>
            <a:off x="1188720" y="2103120"/>
            <a:ext cx="2926080" cy="731520"/>
          </a:xfrm>
          <a:prstGeom prst="rect">
            <a:avLst/>
          </a:prstGeom>
          <a:noFill/>
          <a:ln/>
        </p:spPr>
        <p:txBody>
          <a:bodyPr wrap="square" lIns="0" tIns="0" rIns="0" bIns="0" rtlCol="0" anchor="ctr"/>
          <a:lstStyle/>
          <a:p>
            <a:pPr indent="0" marL="0">
              <a:buNone/>
            </a:pPr>
            <a:r>
              <a:rPr lang="en-US" sz="1300" b="1" dirty="0">
                <a:solidFill>
                  <a:srgbClr val="1E3A5F"/>
                </a:solidFill>
                <a:latin typeface="Georgia" pitchFamily="34" charset="0"/>
                <a:ea typeface="Georgia" pitchFamily="34" charset="-122"/>
                <a:cs typeface="Georgia" pitchFamily="34" charset="-120"/>
              </a:rPr>
              <a:t>Cite references in text</a:t>
            </a:r>
            <a:endParaRPr lang="en-US" sz="1300" dirty="0"/>
          </a:p>
        </p:txBody>
      </p:sp>
      <p:sp>
        <p:nvSpPr>
          <p:cNvPr id="11" name="Text 7"/>
          <p:cNvSpPr/>
          <p:nvPr/>
        </p:nvSpPr>
        <p:spPr>
          <a:xfrm>
            <a:off x="4206240" y="2103120"/>
            <a:ext cx="4297680" cy="731520"/>
          </a:xfrm>
          <a:prstGeom prst="rect">
            <a:avLst/>
          </a:prstGeom>
          <a:noFill/>
          <a:ln/>
        </p:spPr>
        <p:txBody>
          <a:bodyPr wrap="square" lIns="0" tIns="0" rIns="0" bIns="0"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Data source, methodology, and limitations are documented inline throughout the Overview and Project Review tabs with explicit scope notes.</a:t>
            </a:r>
            <a:endParaRPr lang="en-US" sz="1100" dirty="0"/>
          </a:p>
        </p:txBody>
      </p:sp>
      <p:sp>
        <p:nvSpPr>
          <p:cNvPr id="12" name="Shape 8"/>
          <p:cNvSpPr/>
          <p:nvPr/>
        </p:nvSpPr>
        <p:spPr>
          <a:xfrm>
            <a:off x="457200" y="301752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40080" y="3200400"/>
            <a:ext cx="365760" cy="365760"/>
          </a:xfrm>
          <a:prstGeom prst="rect">
            <a:avLst/>
          </a:prstGeom>
        </p:spPr>
      </p:pic>
      <p:sp>
        <p:nvSpPr>
          <p:cNvPr id="14" name="Text 9"/>
          <p:cNvSpPr/>
          <p:nvPr/>
        </p:nvSpPr>
        <p:spPr>
          <a:xfrm>
            <a:off x="1188720" y="3063240"/>
            <a:ext cx="2926080" cy="731520"/>
          </a:xfrm>
          <a:prstGeom prst="rect">
            <a:avLst/>
          </a:prstGeom>
          <a:noFill/>
          <a:ln/>
        </p:spPr>
        <p:txBody>
          <a:bodyPr wrap="square" lIns="0" tIns="0" rIns="0" bIns="0" rtlCol="0" anchor="ctr"/>
          <a:lstStyle/>
          <a:p>
            <a:pPr indent="0" marL="0">
              <a:buNone/>
            </a:pPr>
            <a:r>
              <a:rPr lang="en-US" sz="1300" b="1" dirty="0">
                <a:solidFill>
                  <a:srgbClr val="1E3A5F"/>
                </a:solidFill>
                <a:latin typeface="Georgia" pitchFamily="34" charset="0"/>
                <a:ea typeface="Georgia" pitchFamily="34" charset="-122"/>
                <a:cs typeface="Georgia" pitchFamily="34" charset="-120"/>
              </a:rPr>
              <a:t>Imputation for missing user data</a:t>
            </a:r>
            <a:endParaRPr lang="en-US" sz="1300" dirty="0"/>
          </a:p>
        </p:txBody>
      </p:sp>
      <p:sp>
        <p:nvSpPr>
          <p:cNvPr id="15" name="Text 10"/>
          <p:cNvSpPr/>
          <p:nvPr/>
        </p:nvSpPr>
        <p:spPr>
          <a:xfrm>
            <a:off x="4206240" y="3063240"/>
            <a:ext cx="4297680" cy="731520"/>
          </a:xfrm>
          <a:prstGeom prst="rect">
            <a:avLst/>
          </a:prstGeom>
          <a:noFill/>
          <a:ln/>
        </p:spPr>
        <p:txBody>
          <a:bodyPr wrap="square" lIns="0" tIns="0" rIns="0" bIns="0"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Income used for affordability context only (not in model). App notes which fields come from Freddie Mac vs. user input. Placeholder values (9999) audited.</a:t>
            </a:r>
            <a:endParaRPr lang="en-US" sz="1100" dirty="0"/>
          </a:p>
        </p:txBody>
      </p:sp>
      <p:sp>
        <p:nvSpPr>
          <p:cNvPr id="16" name="Shape 11"/>
          <p:cNvSpPr/>
          <p:nvPr/>
        </p:nvSpPr>
        <p:spPr>
          <a:xfrm>
            <a:off x="457200" y="397764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640080" y="4160520"/>
            <a:ext cx="365760" cy="365760"/>
          </a:xfrm>
          <a:prstGeom prst="rect">
            <a:avLst/>
          </a:prstGeom>
        </p:spPr>
      </p:pic>
      <p:sp>
        <p:nvSpPr>
          <p:cNvPr id="18" name="Text 12"/>
          <p:cNvSpPr/>
          <p:nvPr/>
        </p:nvSpPr>
        <p:spPr>
          <a:xfrm>
            <a:off x="1188720" y="4023360"/>
            <a:ext cx="2926080" cy="731520"/>
          </a:xfrm>
          <a:prstGeom prst="rect">
            <a:avLst/>
          </a:prstGeom>
          <a:noFill/>
          <a:ln/>
        </p:spPr>
        <p:txBody>
          <a:bodyPr wrap="square" lIns="0" tIns="0" rIns="0" bIns="0" rtlCol="0" anchor="ctr"/>
          <a:lstStyle/>
          <a:p>
            <a:pPr indent="0" marL="0">
              <a:buNone/>
            </a:pPr>
            <a:r>
              <a:rPr lang="en-US" sz="1300" b="1" dirty="0">
                <a:solidFill>
                  <a:srgbClr val="1E3A5F"/>
                </a:solidFill>
                <a:latin typeface="Georgia" pitchFamily="34" charset="0"/>
                <a:ea typeface="Georgia" pitchFamily="34" charset="-122"/>
                <a:cs typeface="Georgia" pitchFamily="34" charset="-120"/>
              </a:rPr>
              <a:t>Sensitivity plot / scenario analysis</a:t>
            </a:r>
            <a:endParaRPr lang="en-US" sz="1300" dirty="0"/>
          </a:p>
        </p:txBody>
      </p:sp>
      <p:sp>
        <p:nvSpPr>
          <p:cNvPr id="19" name="Text 13"/>
          <p:cNvSpPr/>
          <p:nvPr/>
        </p:nvSpPr>
        <p:spPr>
          <a:xfrm>
            <a:off x="4206240" y="4023360"/>
            <a:ext cx="4297680" cy="731520"/>
          </a:xfrm>
          <a:prstGeom prst="rect">
            <a:avLst/>
          </a:prstGeom>
          <a:noFill/>
          <a:ln/>
        </p:spPr>
        <p:txBody>
          <a:bodyPr wrap="square" lIns="0" tIns="0" rIns="0" bIns="0"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Scenario Simulator tab with 5 adjustment sliders, baseline vs. scenario comparison, predicted risk shift chart, and values-before-and-after table.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137160"/>
            <a:ext cx="9144000" cy="731520"/>
          </a:xfrm>
          <a:prstGeom prst="rect">
            <a:avLst/>
          </a:prstGeom>
          <a:solidFill>
            <a:srgbClr val="0F2440"/>
          </a:solidFill>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MVP Status &amp; Next Steps</a:t>
            </a:r>
            <a:endParaRPr lang="en-US" sz="3600" dirty="0"/>
          </a:p>
        </p:txBody>
      </p:sp>
      <p:sp>
        <p:nvSpPr>
          <p:cNvPr id="4" name="Shape 2"/>
          <p:cNvSpPr/>
          <p:nvPr/>
        </p:nvSpPr>
        <p:spPr>
          <a:xfrm>
            <a:off x="457200" y="1143000"/>
            <a:ext cx="38404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1143000"/>
            <a:ext cx="73152" cy="3474720"/>
          </a:xfrm>
          <a:prstGeom prst="rect">
            <a:avLst/>
          </a:prstGeom>
          <a:solidFill>
            <a:srgbClr val="16A34A"/>
          </a:solidFill>
          <a:ln/>
        </p:spPr>
      </p:sp>
      <p:sp>
        <p:nvSpPr>
          <p:cNvPr id="6" name="Text 4"/>
          <p:cNvSpPr/>
          <p:nvPr/>
        </p:nvSpPr>
        <p:spPr>
          <a:xfrm>
            <a:off x="777240" y="1234440"/>
            <a:ext cx="3291840" cy="365760"/>
          </a:xfrm>
          <a:prstGeom prst="rect">
            <a:avLst/>
          </a:prstGeom>
          <a:noFill/>
          <a:ln/>
        </p:spPr>
        <p:txBody>
          <a:bodyPr wrap="square" lIns="0" tIns="0" rIns="0" bIns="0" rtlCol="0" anchor="ctr"/>
          <a:lstStyle/>
          <a:p>
            <a:pPr indent="0" marL="0">
              <a:buNone/>
            </a:pPr>
            <a:r>
              <a:rPr lang="en-US" sz="2000" b="1" dirty="0">
                <a:solidFill>
                  <a:srgbClr val="16A34A"/>
                </a:solidFill>
                <a:latin typeface="Georgia" pitchFamily="34" charset="0"/>
                <a:ea typeface="Georgia" pitchFamily="34" charset="-122"/>
                <a:cs typeface="Georgia" pitchFamily="34" charset="-120"/>
              </a:rPr>
              <a:t>MVP Delivered</a:t>
            </a:r>
            <a:endParaRPr lang="en-US" sz="2000" dirty="0"/>
          </a:p>
        </p:txBody>
      </p:sp>
      <p:sp>
        <p:nvSpPr>
          <p:cNvPr id="7" name="Text 5"/>
          <p:cNvSpPr/>
          <p:nvPr/>
        </p:nvSpPr>
        <p:spPr>
          <a:xfrm>
            <a:off x="777240" y="1691640"/>
            <a:ext cx="3291840" cy="2834640"/>
          </a:xfrm>
          <a:prstGeom prst="rect">
            <a:avLst/>
          </a:prstGeom>
          <a:noFill/>
          <a:ln/>
        </p:spPr>
        <p:txBody>
          <a:bodyPr wrap="square" lIns="0" tIns="0" rIns="0" bIns="0" rtlCol="0" anchor="ctr"/>
          <a:lstStyle/>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Trained on real Freddie Mac data</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150K loans, 2018–2020 vintages</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Logistic regression (AUC 0.755)</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Input form with all borrower fields</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Real-time risk estimate + tier</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Scenario simulator with 5 sliders</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Feature importance (log-odds)</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ROC, confusion matrix, calibration</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Project review + limitations tab</a:t>
            </a:r>
            <a:endParaRPr lang="en-US" sz="1300" dirty="0"/>
          </a:p>
          <a:p>
            <a:pPr indent="0" marL="0">
              <a:lnSpc>
                <a:spcPct val="135000"/>
              </a:lnSpc>
              <a:buNone/>
            </a:pPr>
            <a:r>
              <a:rPr lang="en-US" sz="1300" dirty="0">
                <a:solidFill>
                  <a:srgbClr val="334155"/>
                </a:solidFill>
                <a:latin typeface="Calibri" pitchFamily="34" charset="0"/>
                <a:ea typeface="Calibri" pitchFamily="34" charset="-122"/>
                <a:cs typeface="Calibri" pitchFamily="34" charset="-120"/>
              </a:rPr>
              <a:t>✓  Deployed on shinyapps.io</a:t>
            </a:r>
            <a:endParaRPr lang="en-US" sz="1300" dirty="0"/>
          </a:p>
        </p:txBody>
      </p:sp>
      <p:sp>
        <p:nvSpPr>
          <p:cNvPr id="8" name="Shape 6"/>
          <p:cNvSpPr/>
          <p:nvPr/>
        </p:nvSpPr>
        <p:spPr>
          <a:xfrm>
            <a:off x="4846320" y="1143000"/>
            <a:ext cx="384048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846320" y="1143000"/>
            <a:ext cx="73152" cy="1600200"/>
          </a:xfrm>
          <a:prstGeom prst="rect">
            <a:avLst/>
          </a:prstGeom>
          <a:solidFill>
            <a:srgbClr val="D97706"/>
          </a:solidFill>
          <a:ln/>
        </p:spPr>
      </p:sp>
      <p:sp>
        <p:nvSpPr>
          <p:cNvPr id="10" name="Text 8"/>
          <p:cNvSpPr/>
          <p:nvPr/>
        </p:nvSpPr>
        <p:spPr>
          <a:xfrm>
            <a:off x="5166360" y="1234440"/>
            <a:ext cx="3291840" cy="365760"/>
          </a:xfrm>
          <a:prstGeom prst="rect">
            <a:avLst/>
          </a:prstGeom>
          <a:noFill/>
          <a:ln/>
        </p:spPr>
        <p:txBody>
          <a:bodyPr wrap="square" lIns="0" tIns="0" rIns="0" bIns="0" rtlCol="0" anchor="ctr"/>
          <a:lstStyle/>
          <a:p>
            <a:pPr indent="0" marL="0">
              <a:buNone/>
            </a:pPr>
            <a:r>
              <a:rPr lang="en-US" sz="1800" b="1" dirty="0">
                <a:solidFill>
                  <a:srgbClr val="D97706"/>
                </a:solidFill>
                <a:latin typeface="Georgia" pitchFamily="34" charset="0"/>
                <a:ea typeface="Georgia" pitchFamily="34" charset="-122"/>
                <a:cs typeface="Georgia" pitchFamily="34" charset="-120"/>
              </a:rPr>
              <a:t>Post-MVP Roadmap</a:t>
            </a:r>
            <a:endParaRPr lang="en-US" sz="1800" dirty="0"/>
          </a:p>
        </p:txBody>
      </p:sp>
      <p:sp>
        <p:nvSpPr>
          <p:cNvPr id="11" name="Text 9"/>
          <p:cNvSpPr/>
          <p:nvPr/>
        </p:nvSpPr>
        <p:spPr>
          <a:xfrm>
            <a:off x="5166360" y="1645920"/>
            <a:ext cx="3291840" cy="100584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Expand to 2018–2022 vintages</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Add Random Forest &amp; XGBoost</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Sensitivity curve plots</a:t>
            </a:r>
            <a:endParaRPr lang="en-US" sz="1200" dirty="0"/>
          </a:p>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  Usability testing (3–5 peers)</a:t>
            </a:r>
            <a:endParaRPr lang="en-US" sz="1200" dirty="0"/>
          </a:p>
        </p:txBody>
      </p:sp>
      <p:sp>
        <p:nvSpPr>
          <p:cNvPr id="12" name="Shape 10"/>
          <p:cNvSpPr/>
          <p:nvPr/>
        </p:nvSpPr>
        <p:spPr>
          <a:xfrm>
            <a:off x="4846320" y="2971800"/>
            <a:ext cx="384048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846320" y="2971800"/>
            <a:ext cx="73152" cy="1645920"/>
          </a:xfrm>
          <a:prstGeom prst="rect">
            <a:avLst/>
          </a:prstGeom>
          <a:solidFill>
            <a:srgbClr val="DC2626"/>
          </a:solidFill>
          <a:ln/>
        </p:spPr>
      </p:sp>
      <p:sp>
        <p:nvSpPr>
          <p:cNvPr id="14" name="Text 12"/>
          <p:cNvSpPr/>
          <p:nvPr/>
        </p:nvSpPr>
        <p:spPr>
          <a:xfrm>
            <a:off x="5166360" y="3063240"/>
            <a:ext cx="3291840" cy="320040"/>
          </a:xfrm>
          <a:prstGeom prst="rect">
            <a:avLst/>
          </a:prstGeom>
          <a:noFill/>
          <a:ln/>
        </p:spPr>
        <p:txBody>
          <a:bodyPr wrap="square" lIns="0" tIns="0" rIns="0" bIns="0" rtlCol="0" anchor="ctr"/>
          <a:lstStyle/>
          <a:p>
            <a:pPr indent="0" marL="0">
              <a:buNone/>
            </a:pPr>
            <a:r>
              <a:rPr lang="en-US" sz="1800" b="1" dirty="0">
                <a:solidFill>
                  <a:srgbClr val="DC2626"/>
                </a:solidFill>
                <a:latin typeface="Georgia" pitchFamily="34" charset="0"/>
                <a:ea typeface="Georgia" pitchFamily="34" charset="-122"/>
                <a:cs typeface="Georgia" pitchFamily="34" charset="-120"/>
              </a:rPr>
              <a:t>Honest Limitations</a:t>
            </a:r>
            <a:endParaRPr lang="en-US" sz="1800" dirty="0"/>
          </a:p>
        </p:txBody>
      </p:sp>
      <p:sp>
        <p:nvSpPr>
          <p:cNvPr id="15" name="Text 13"/>
          <p:cNvSpPr/>
          <p:nvPr/>
        </p:nvSpPr>
        <p:spPr>
          <a:xfrm>
            <a:off x="5166360" y="3429000"/>
            <a:ext cx="3291840" cy="1051560"/>
          </a:xfrm>
          <a:prstGeom prst="rect">
            <a:avLst/>
          </a:prstGeom>
          <a:noFill/>
          <a:ln/>
        </p:spPr>
        <p:txBody>
          <a:bodyPr wrap="square" lIns="0" tIns="0" rIns="0" bIns="0" rtlCol="0" anchor="ctr"/>
          <a:lstStyle/>
          <a:p>
            <a:pPr indent="0" marL="0">
              <a:lnSpc>
                <a:spcPct val="135000"/>
              </a:lnSpc>
              <a:buNone/>
            </a:pPr>
            <a:r>
              <a:rPr lang="en-US" sz="1100" dirty="0">
                <a:solidFill>
                  <a:srgbClr val="64748B"/>
                </a:solidFill>
                <a:latin typeface="Calibri" pitchFamily="34" charset="0"/>
                <a:ea typeface="Calibri" pitchFamily="34" charset="-122"/>
                <a:cs typeface="Calibri" pitchFamily="34" charset="-120"/>
              </a:rPr>
              <a:t>MVP baseline, not production underwriting</a:t>
            </a:r>
            <a:endParaRPr lang="en-US" sz="1100" dirty="0"/>
          </a:p>
          <a:p>
            <a:pPr indent="0" marL="0">
              <a:lnSpc>
                <a:spcPct val="135000"/>
              </a:lnSpc>
              <a:buNone/>
            </a:pPr>
            <a:r>
              <a:rPr lang="en-US" sz="1100" dirty="0">
                <a:solidFill>
                  <a:srgbClr val="64748B"/>
                </a:solidFill>
                <a:latin typeface="Calibri" pitchFamily="34" charset="0"/>
                <a:ea typeface="Calibri" pitchFamily="34" charset="-122"/>
                <a:cs typeface="Calibri" pitchFamily="34" charset="-120"/>
              </a:rPr>
              <a:t>Income used for affordability only (not in model)</a:t>
            </a:r>
            <a:endParaRPr lang="en-US" sz="1100" dirty="0"/>
          </a:p>
          <a:p>
            <a:pPr indent="0" marL="0">
              <a:lnSpc>
                <a:spcPct val="135000"/>
              </a:lnSpc>
              <a:buNone/>
            </a:pPr>
            <a:r>
              <a:rPr lang="en-US" sz="1100" dirty="0">
                <a:solidFill>
                  <a:srgbClr val="64748B"/>
                </a:solidFill>
                <a:latin typeface="Calibri" pitchFamily="34" charset="0"/>
                <a:ea typeface="Calibri" pitchFamily="34" charset="-122"/>
                <a:cs typeface="Calibri" pitchFamily="34" charset="-120"/>
              </a:rPr>
              <a:t>Risk tiers are prototype, not business-calibrated</a:t>
            </a:r>
            <a:endParaRPr lang="en-US" sz="1100" dirty="0"/>
          </a:p>
          <a:p>
            <a:pPr indent="0" marL="0">
              <a:lnSpc>
                <a:spcPct val="135000"/>
              </a:lnSpc>
              <a:buNone/>
            </a:pPr>
            <a:r>
              <a:rPr lang="en-US" sz="1100" dirty="0">
                <a:solidFill>
                  <a:srgbClr val="64748B"/>
                </a:solidFill>
                <a:latin typeface="Calibri" pitchFamily="34" charset="0"/>
                <a:ea typeface="Calibri" pitchFamily="34" charset="-122"/>
                <a:cs typeface="Calibri" pitchFamily="34" charset="-120"/>
              </a:rPr>
              <a:t>Scope: 2018–2020, not full 2018–2022 vision</a:t>
            </a:r>
            <a:endParaRPr lang="en-US" sz="1100" dirty="0"/>
          </a:p>
        </p:txBody>
      </p:sp>
      <p:sp>
        <p:nvSpPr>
          <p:cNvPr id="16" name="Shape 14"/>
          <p:cNvSpPr/>
          <p:nvPr/>
        </p:nvSpPr>
        <p:spPr>
          <a:xfrm>
            <a:off x="457200" y="4709160"/>
            <a:ext cx="8229600" cy="320040"/>
          </a:xfrm>
          <a:prstGeom prst="rect">
            <a:avLst/>
          </a:prstGeom>
          <a:solidFill>
            <a:srgbClr val="1E3A5F"/>
          </a:solidFill>
          <a:ln/>
        </p:spPr>
      </p:sp>
      <p:sp>
        <p:nvSpPr>
          <p:cNvPr id="17" name="Text 15"/>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200" dirty="0">
                <a:solidFill>
                  <a:srgbClr val="38BDF8"/>
                </a:solidFill>
                <a:latin typeface="Consolas" pitchFamily="34" charset="0"/>
                <a:ea typeface="Consolas" pitchFamily="34" charset="-122"/>
                <a:cs typeface="Consolas" pitchFamily="34" charset="-120"/>
              </a:rPr>
              <a:t>Live:  sabinabaraili.shinyapps.io/home-loan-advisor-data622/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440"/>
        </a:solidFill>
      </p:bgPr>
    </p:bg>
    <p:spTree>
      <p:nvGrpSpPr>
        <p:cNvPr id="1" name=""/>
        <p:cNvGrpSpPr/>
        <p:nvPr/>
      </p:nvGrpSpPr>
      <p:grpSpPr>
        <a:xfrm>
          <a:off x="0" y="0"/>
          <a:ext cx="0" cy="0"/>
          <a:chOff x="0" y="0"/>
          <a:chExt cx="0" cy="0"/>
        </a:xfrm>
      </p:grpSpPr>
      <p:sp>
        <p:nvSpPr>
          <p:cNvPr id="2" name="Text 0"/>
          <p:cNvSpPr/>
          <p:nvPr/>
        </p:nvSpPr>
        <p:spPr>
          <a:xfrm>
            <a:off x="731520" y="457200"/>
            <a:ext cx="77724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References</a:t>
            </a:r>
            <a:endParaRPr lang="en-US" sz="3600" dirty="0"/>
          </a:p>
        </p:txBody>
      </p:sp>
      <p:sp>
        <p:nvSpPr>
          <p:cNvPr id="3" name="Shape 1"/>
          <p:cNvSpPr/>
          <p:nvPr/>
        </p:nvSpPr>
        <p:spPr>
          <a:xfrm>
            <a:off x="731520" y="1188720"/>
            <a:ext cx="1828800" cy="36576"/>
          </a:xfrm>
          <a:prstGeom prst="rect">
            <a:avLst/>
          </a:prstGeom>
          <a:solidFill>
            <a:srgbClr val="38BDF8"/>
          </a:solidFill>
          <a:ln/>
        </p:spPr>
      </p:sp>
      <p:sp>
        <p:nvSpPr>
          <p:cNvPr id="4" name="Text 2"/>
          <p:cNvSpPr/>
          <p:nvPr/>
        </p:nvSpPr>
        <p:spPr>
          <a:xfrm>
            <a:off x="731520" y="1463040"/>
            <a:ext cx="7772400" cy="3200400"/>
          </a:xfrm>
          <a:prstGeom prst="rect">
            <a:avLst/>
          </a:prstGeom>
          <a:noFill/>
          <a:ln/>
        </p:spPr>
        <p:txBody>
          <a:bodyPr wrap="square" lIns="0" tIns="0" rIns="0" bIns="0" rtlCol="0" anchor="ctr"/>
          <a:lstStyle/>
          <a:p>
            <a:pPr indent="0" marL="0">
              <a:lnSpc>
                <a:spcPct val="125000"/>
              </a:lnSpc>
              <a:buNone/>
            </a:pPr>
            <a:r>
              <a:rPr lang="en-US" sz="1300" b="1" dirty="0">
                <a:solidFill>
                  <a:srgbClr val="CADCFC"/>
                </a:solidFill>
                <a:latin typeface="Calibri" pitchFamily="34" charset="0"/>
                <a:ea typeface="Calibri" pitchFamily="34" charset="-122"/>
                <a:cs typeface="Calibri" pitchFamily="34" charset="-120"/>
              </a:rPr>
              <a:t>Freddie Mac (2024). Single Family Loan-Level Dataset.</a:t>
            </a:r>
            <a:endParaRPr lang="en-US" sz="1300" dirty="0"/>
          </a:p>
          <a:p>
            <a:pPr indent="0" marL="0">
              <a:lnSpc>
                <a:spcPct val="125000"/>
              </a:lnSpc>
              <a:buNone/>
            </a:pPr>
            <a:r>
              <a:rPr lang="en-US" sz="1300" dirty="0">
                <a:solidFill>
                  <a:srgbClr val="38BDF8"/>
                </a:solidFill>
                <a:latin typeface="Calibri" pitchFamily="34" charset="0"/>
                <a:ea typeface="Calibri" pitchFamily="34" charset="-122"/>
                <a:cs typeface="Calibri" pitchFamily="34" charset="-120"/>
              </a:rPr>
              <a:t>freddiemac.com/research/datasets/sf-loanlevel-dataset</a:t>
            </a:r>
            <a:endParaRPr lang="en-US" sz="1300" dirty="0"/>
          </a:p>
          <a:p>
            <a:pPr indent="0" marL="0">
              <a:lnSpc>
                <a:spcPct val="125000"/>
              </a:lnSpc>
              <a:buNone/>
            </a:pP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Chen, T. &amp; Guestrin, C. (2016). XGBoost: A Scalable Tree Boosting System.</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Proceedings of the 22nd ACM SIGKDD.</a:t>
            </a:r>
            <a:endParaRPr lang="en-US" sz="1300" dirty="0"/>
          </a:p>
          <a:p>
            <a:pPr indent="0" marL="0">
              <a:lnSpc>
                <a:spcPct val="125000"/>
              </a:lnSpc>
              <a:buNone/>
            </a:pP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Chawla, N. V. et al. (2002). SMOTE: Synthetic Minority Over-sampling Technique.</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Journal of Artificial Intelligence Research, 16, 321–357.</a:t>
            </a:r>
            <a:endParaRPr lang="en-US" sz="1300" dirty="0"/>
          </a:p>
          <a:p>
            <a:pPr indent="0" marL="0">
              <a:lnSpc>
                <a:spcPct val="125000"/>
              </a:lnSpc>
              <a:buNone/>
            </a:pP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Kuhn, M. &amp; Wickham, H. (2020). Tidymodels: a collection of packages for modeling</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and machine learning using tidyverse principles. tidymodels.org</a:t>
            </a:r>
            <a:endParaRPr lang="en-US" sz="1300" dirty="0"/>
          </a:p>
          <a:p>
            <a:pPr indent="0" marL="0">
              <a:lnSpc>
                <a:spcPct val="125000"/>
              </a:lnSpc>
              <a:buNone/>
            </a:pP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Chang, W. et al. (2023). Shiny: Web Application Framework for R. shiny.posit.co</a:t>
            </a:r>
            <a:endParaRPr lang="en-US" sz="1300" dirty="0"/>
          </a:p>
        </p:txBody>
      </p:sp>
      <p:sp>
        <p:nvSpPr>
          <p:cNvPr id="5" name="Text 3"/>
          <p:cNvSpPr/>
          <p:nvPr/>
        </p:nvSpPr>
        <p:spPr>
          <a:xfrm>
            <a:off x="731520" y="4572000"/>
            <a:ext cx="77724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DATA 622  |  Spring 2026  —  Jiang, Collado, Razzaq, Baraili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 Loan Advisor — DATA 622 MVP</dc:title>
  <dc:subject>PptxGenJS Presentation</dc:subject>
  <dc:creator>Razzaq, Collado, Baralli, Jiang</dc:creator>
  <cp:lastModifiedBy>Razzaq, Collado, Baralli, Jiang</cp:lastModifiedBy>
  <cp:revision>1</cp:revision>
  <dcterms:created xsi:type="dcterms:W3CDTF">2026-04-12T19:12:29Z</dcterms:created>
  <dcterms:modified xsi:type="dcterms:W3CDTF">2026-04-12T19:12:29Z</dcterms:modified>
</cp:coreProperties>
</file>